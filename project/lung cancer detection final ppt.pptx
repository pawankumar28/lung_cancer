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24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51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22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8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20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07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49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4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5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757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034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684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41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154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82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35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3C1A16-59BC-46E7-8E0D-67AB95E23B16}" type="datetimeFigureOut">
              <a:rPr lang="en-IN" smtClean="0"/>
              <a:t>10-08-2025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55CE848-3804-4B98-B0F0-C2FAF46E9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72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0CF63-1907-0F7A-C3B2-F796963A6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0" y="2454889"/>
            <a:ext cx="8574622" cy="26161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Lung Cancer Detection System Using CNN</a:t>
            </a:r>
            <a:br>
              <a:rPr lang="en-US" dirty="0"/>
            </a:br>
            <a:br>
              <a:rPr lang="en-US" dirty="0"/>
            </a:br>
            <a:r>
              <a:rPr lang="en-US" sz="3100" dirty="0"/>
              <a:t>Name : Pawan Kumar K.P</a:t>
            </a:r>
            <a:br>
              <a:rPr lang="en-US" sz="3100" dirty="0"/>
            </a:br>
            <a:r>
              <a:rPr lang="en-US" sz="3100" dirty="0"/>
              <a:t>USN : </a:t>
            </a:r>
            <a:r>
              <a:rPr lang="en-US" sz="3600" dirty="0"/>
              <a:t>4SO23MC068</a:t>
            </a:r>
            <a:br>
              <a:rPr lang="en-US" sz="3100" dirty="0"/>
            </a:br>
            <a:r>
              <a:rPr lang="en-US" sz="3100" dirty="0"/>
              <a:t>4</a:t>
            </a:r>
            <a:r>
              <a:rPr lang="en-US" sz="3100" baseline="30000" dirty="0"/>
              <a:t>th</a:t>
            </a:r>
            <a:r>
              <a:rPr lang="en-US" sz="3100" dirty="0"/>
              <a:t> Semester MCA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153F9-2D6B-35E9-8C13-CBD22D44D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1889" y="4783664"/>
            <a:ext cx="6987645" cy="1710269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2600" dirty="0"/>
              <a:t>Internal Guide:</a:t>
            </a:r>
          </a:p>
          <a:p>
            <a:pPr algn="ctr"/>
            <a:r>
              <a:rPr lang="en-US" sz="2600" dirty="0"/>
              <a:t>Ms. Sumangala N</a:t>
            </a:r>
          </a:p>
          <a:p>
            <a:pPr algn="ctr"/>
            <a:r>
              <a:rPr lang="en-US" sz="2600" dirty="0"/>
              <a:t>Asst Professor </a:t>
            </a:r>
          </a:p>
          <a:p>
            <a:pPr algn="ctr"/>
            <a:r>
              <a:rPr lang="en-US" sz="2600" dirty="0"/>
              <a:t>Department of Computer Applications</a:t>
            </a:r>
            <a:endParaRPr lang="en-IN" sz="2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7798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C0A3-EFB6-9D2F-7617-ABF217376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Introduction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74F1-67C3-EC1F-7624-9804C51DD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913466"/>
            <a:ext cx="10018713" cy="39285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500" b="1" dirty="0"/>
              <a:t>Abstract / Overview</a:t>
            </a:r>
          </a:p>
          <a:p>
            <a:pPr marL="0" indent="0">
              <a:buNone/>
            </a:pPr>
            <a:endParaRPr lang="en-IN" sz="3500" dirty="0"/>
          </a:p>
          <a:p>
            <a:r>
              <a:rPr lang="en-IN" dirty="0"/>
              <a:t>Lung cancer → leading cause of cancer-related deaths (~25% worldwide).</a:t>
            </a:r>
          </a:p>
          <a:p>
            <a:r>
              <a:rPr lang="en-IN" dirty="0"/>
              <a:t>Late diagnosis → poor prognosis &amp; limited treatment success.</a:t>
            </a:r>
          </a:p>
          <a:p>
            <a:r>
              <a:rPr lang="en-IN" dirty="0"/>
              <a:t>Proposed: Hybrid CNN + VGG16 for early detection from CT scans.</a:t>
            </a:r>
          </a:p>
          <a:p>
            <a:r>
              <a:rPr lang="en-IN" dirty="0"/>
              <a:t>Web-based multi-user platform (Admin, Doctor, Patient).</a:t>
            </a:r>
          </a:p>
          <a:p>
            <a:r>
              <a:rPr lang="en-IN" dirty="0"/>
              <a:t>Dataset: IQ-OTH/NCCD – 9,600 images (Normal, Benign, Malignant).</a:t>
            </a:r>
          </a:p>
          <a:p>
            <a:r>
              <a:rPr lang="en-IN" dirty="0"/>
              <a:t>Achieved </a:t>
            </a:r>
            <a:r>
              <a:rPr lang="en-IN" b="1" dirty="0"/>
              <a:t>95.25% accuracy</a:t>
            </a:r>
            <a:r>
              <a:rPr lang="en-IN" dirty="0"/>
              <a:t> after 100 epochs.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2414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4C29-9AF8-A9C0-6510-88777120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79A1-3229-6B32-085C-3B8EAC32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Introduction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0A2B-D065-5E1C-7BE7-257164041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93332"/>
            <a:ext cx="10018713" cy="4682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Problem Statement</a:t>
            </a:r>
          </a:p>
          <a:p>
            <a:pPr marL="0" indent="0">
              <a:buNone/>
            </a:pPr>
            <a:endParaRPr lang="en-IN" sz="3600" dirty="0"/>
          </a:p>
          <a:p>
            <a:r>
              <a:rPr lang="en-IN" sz="2200" dirty="0"/>
              <a:t>Lung cancer often detected in </a:t>
            </a:r>
            <a:r>
              <a:rPr lang="en-IN" sz="2200" b="1" dirty="0"/>
              <a:t>late stages</a:t>
            </a:r>
            <a:r>
              <a:rPr lang="en-IN" sz="2200" dirty="0"/>
              <a:t> → 1.8M deaths/year.</a:t>
            </a:r>
          </a:p>
          <a:p>
            <a:r>
              <a:rPr lang="en-IN" sz="2200" dirty="0"/>
              <a:t>Traditional methods (biopsy, bronchoscopy, CT) → costly, invasive, need expert radiologists.</a:t>
            </a:r>
          </a:p>
          <a:p>
            <a:r>
              <a:rPr lang="en-IN" sz="2200" dirty="0"/>
              <a:t>Shortage of specialists → delays &amp; errors.</a:t>
            </a:r>
          </a:p>
          <a:p>
            <a:r>
              <a:rPr lang="en-IN" sz="2200" dirty="0"/>
              <a:t>Radiological interpretation variability up to 20% in complex cases.</a:t>
            </a:r>
          </a:p>
          <a:p>
            <a:r>
              <a:rPr lang="en-IN" sz="2200" dirty="0"/>
              <a:t>Need: </a:t>
            </a:r>
            <a:r>
              <a:rPr lang="en-IN" sz="2200" b="1" dirty="0"/>
              <a:t>Non-invasive, accurate, accessible, AI-based detection system</a:t>
            </a:r>
            <a:r>
              <a:rPr lang="en-IN" sz="2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90476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DEB3-D719-3D72-F457-FC8E1752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3F1D-ED9D-C2CA-3ACB-88133773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Introduction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7B214-EB93-0F2D-A52D-C07324B11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39332"/>
            <a:ext cx="10018713" cy="4682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Significance / Objectives</a:t>
            </a:r>
          </a:p>
          <a:p>
            <a:endParaRPr lang="en-US" sz="3800" dirty="0"/>
          </a:p>
          <a:p>
            <a:r>
              <a:rPr lang="en-US" sz="2200" dirty="0"/>
              <a:t>Enable </a:t>
            </a:r>
            <a:r>
              <a:rPr lang="en-US" sz="2200" b="1" dirty="0"/>
              <a:t>early detection</a:t>
            </a:r>
            <a:r>
              <a:rPr lang="en-US" sz="2200" dirty="0"/>
              <a:t> → better treatment outcomes.</a:t>
            </a:r>
          </a:p>
          <a:p>
            <a:r>
              <a:rPr lang="en-US" sz="2200" dirty="0"/>
              <a:t>Provide </a:t>
            </a:r>
            <a:r>
              <a:rPr lang="en-US" sz="2200" b="1" dirty="0"/>
              <a:t>cost-effective, scalable</a:t>
            </a:r>
            <a:r>
              <a:rPr lang="en-US" sz="2200" dirty="0"/>
              <a:t> diagnostic tool.</a:t>
            </a:r>
          </a:p>
          <a:p>
            <a:r>
              <a:rPr lang="en-US" sz="2200" dirty="0"/>
              <a:t>Reduce workload of radiologists via </a:t>
            </a:r>
            <a:r>
              <a:rPr lang="en-US" sz="2200" b="1" dirty="0"/>
              <a:t>AI decision-support</a:t>
            </a:r>
            <a:r>
              <a:rPr lang="en-US" sz="2200" dirty="0"/>
              <a:t>.</a:t>
            </a:r>
          </a:p>
          <a:p>
            <a:r>
              <a:rPr lang="en-US" sz="2200" dirty="0"/>
              <a:t>Role-based system for healthcare workflow integration.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56695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44611-3E18-4185-FAF5-BD838E16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3CB1-1DFF-BB1E-7C33-BC281B6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Software Requirement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3814-9ABC-FA6B-0B86-16C025E1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39332"/>
            <a:ext cx="10018713" cy="4682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System Requirements (Functional)</a:t>
            </a:r>
          </a:p>
          <a:p>
            <a:pPr marL="0" indent="0">
              <a:buNone/>
            </a:pPr>
            <a:endParaRPr lang="en-IN" sz="3200" dirty="0"/>
          </a:p>
          <a:p>
            <a:r>
              <a:rPr lang="en-IN" sz="2200" dirty="0"/>
              <a:t>User registration/login.</a:t>
            </a:r>
          </a:p>
          <a:p>
            <a:r>
              <a:rPr lang="en-IN" sz="2200" dirty="0"/>
              <a:t>Image upload &amp; preprocessing.</a:t>
            </a:r>
          </a:p>
          <a:p>
            <a:r>
              <a:rPr lang="en-IN" sz="2200" dirty="0"/>
              <a:t>CNN-VGG16 prediction (Normal / Benign / Malignant).</a:t>
            </a:r>
          </a:p>
          <a:p>
            <a:r>
              <a:rPr lang="en-IN" sz="2200" dirty="0"/>
              <a:t>PDF report generation with recommendations.</a:t>
            </a:r>
          </a:p>
          <a:p>
            <a:r>
              <a:rPr lang="en-IN" sz="2200" dirty="0"/>
              <a:t>Role-based access (Admin, Doctor, Patient).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87465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69D72-0C25-E0D1-40F6-65732362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8E7F-6BD2-C42F-9468-3E06C2C4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Software Requirement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A40AE-17FA-599E-9EB0-78A30836F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39332"/>
            <a:ext cx="10018713" cy="4682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Non-Functional Requirements</a:t>
            </a:r>
          </a:p>
          <a:p>
            <a:pPr marL="0" indent="0">
              <a:buNone/>
            </a:pPr>
            <a:endParaRPr lang="en-IN" sz="3200" dirty="0"/>
          </a:p>
          <a:p>
            <a:r>
              <a:rPr lang="en-IN" sz="2200" dirty="0"/>
              <a:t>Performance: Fast predictions (~4.7 sec).</a:t>
            </a:r>
          </a:p>
          <a:p>
            <a:r>
              <a:rPr lang="en-IN" sz="2200" dirty="0"/>
              <a:t>Security: Encrypted storage, hashed passwords, role-based access.</a:t>
            </a:r>
          </a:p>
          <a:p>
            <a:r>
              <a:rPr lang="en-IN" sz="2200" dirty="0"/>
              <a:t>Scalability: Modular architecture.</a:t>
            </a:r>
          </a:p>
          <a:p>
            <a:r>
              <a:rPr lang="en-IN" sz="2200" dirty="0"/>
              <a:t>Usability: Responsive, user-friendly web interface.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35728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4D7E9-D279-7CA9-ACD0-76145024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CB1C-2435-F543-A762-B27D468C8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Software Requirement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25EF-DADA-1758-93F5-21C7A94B4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39332"/>
            <a:ext cx="10018713" cy="4682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Project Scope &amp; Benefits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dirty="0"/>
              <a:t>Scope: Web-based AI tool for lung cancer detection from CT scans.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Early detection &amp; improved prognosis.</a:t>
            </a:r>
          </a:p>
          <a:p>
            <a:pPr lvl="1"/>
            <a:r>
              <a:rPr lang="en-US" dirty="0"/>
              <a:t>Reduced manual workload.</a:t>
            </a:r>
          </a:p>
          <a:p>
            <a:pPr lvl="1"/>
            <a:r>
              <a:rPr lang="en-US" dirty="0"/>
              <a:t>Low-cost solution using open-source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05868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5505-D8AD-880A-EFE5-95FC3687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6488-AF1E-6B5C-0A7E-0EB200E4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Design Documents</a:t>
            </a:r>
          </a:p>
        </p:txBody>
      </p:sp>
      <p:pic>
        <p:nvPicPr>
          <p:cNvPr id="4" name="Content Placeholder 3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A01ED5F4-C7B2-915C-3321-F48473902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74" y="1541464"/>
            <a:ext cx="4511618" cy="3911070"/>
          </a:xfrm>
          <a:prstGeom prst="rect">
            <a:avLst/>
          </a:prstGeom>
        </p:spPr>
      </p:pic>
      <p:pic>
        <p:nvPicPr>
          <p:cNvPr id="5" name="Picture 4" descr="A diagram of a medical procedure">
            <a:extLst>
              <a:ext uri="{FF2B5EF4-FFF2-40B4-BE49-F238E27FC236}">
                <a16:creationId xmlns:a16="http://schemas.microsoft.com/office/drawing/2014/main" id="{1F80B5B6-9EA1-BDC6-A596-3BAA25C81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50" y="1541464"/>
            <a:ext cx="5052483" cy="39110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F82FCE-50CF-4789-06E7-4CC28599B991}"/>
              </a:ext>
            </a:extLst>
          </p:cNvPr>
          <p:cNvSpPr txBox="1"/>
          <p:nvPr/>
        </p:nvSpPr>
        <p:spPr>
          <a:xfrm>
            <a:off x="2929466" y="5691201"/>
            <a:ext cx="2429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Context Flow Diagram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116DE-1D02-8FE6-325A-04A47A9ECEE0}"/>
              </a:ext>
            </a:extLst>
          </p:cNvPr>
          <p:cNvSpPr txBox="1"/>
          <p:nvPr/>
        </p:nvSpPr>
        <p:spPr>
          <a:xfrm>
            <a:off x="8387291" y="5691201"/>
            <a:ext cx="157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latin typeface="Times New Roman" panose="02020603050405020304" pitchFamily="18" charset="0"/>
                <a:ea typeface="Verdana" panose="020B0604030504040204" pitchFamily="34" charset="0"/>
              </a:rPr>
              <a:t>Admin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Verdana" panose="020B0604030504040204" pitchFamily="34" charset="0"/>
              </a:rPr>
              <a:t> DFD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34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72ED-2660-6CB6-6220-CC8E6861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859B-E5DD-F558-A377-52E39C2E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dirty="0"/>
              <a:t>Design Documents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23EF2-5FE5-4D64-462B-C258E22068CB}"/>
              </a:ext>
            </a:extLst>
          </p:cNvPr>
          <p:cNvSpPr txBox="1"/>
          <p:nvPr/>
        </p:nvSpPr>
        <p:spPr>
          <a:xfrm>
            <a:off x="3589866" y="6463268"/>
            <a:ext cx="1684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Aptos" panose="020B0004020202020204" pitchFamily="34" charset="0"/>
              </a:rPr>
              <a:t>Doctor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DFD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7F62E-38FA-808B-5C5C-8CA0B23821C8}"/>
              </a:ext>
            </a:extLst>
          </p:cNvPr>
          <p:cNvSpPr txBox="1"/>
          <p:nvPr/>
        </p:nvSpPr>
        <p:spPr>
          <a:xfrm>
            <a:off x="8734424" y="6463268"/>
            <a:ext cx="157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latin typeface="Times New Roman" panose="02020603050405020304" pitchFamily="18" charset="0"/>
                <a:ea typeface="Verdana" panose="020B0604030504040204" pitchFamily="34" charset="0"/>
              </a:rPr>
              <a:t>Patient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Verdana" panose="020B0604030504040204" pitchFamily="34" charset="0"/>
              </a:rPr>
              <a:t> DFD</a:t>
            </a:r>
            <a:endParaRPr lang="en-IN" dirty="0"/>
          </a:p>
        </p:txBody>
      </p:sp>
      <p:pic>
        <p:nvPicPr>
          <p:cNvPr id="8" name="Picture 7" descr="A diagram of a login&#10;&#10;AI-generated content may be incorrect.">
            <a:extLst>
              <a:ext uri="{FF2B5EF4-FFF2-40B4-BE49-F238E27FC236}">
                <a16:creationId xmlns:a16="http://schemas.microsoft.com/office/drawing/2014/main" id="{D9720B18-C825-9A9D-A0AC-EBEE9B4FB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566" y="1943099"/>
            <a:ext cx="4779434" cy="4530631"/>
          </a:xfrm>
          <a:prstGeom prst="rect">
            <a:avLst/>
          </a:prstGeom>
        </p:spPr>
      </p:pic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6CF00A5F-494D-3837-C974-E710AA4C5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432" y="1943100"/>
            <a:ext cx="4779434" cy="4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72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607D-E6B0-4E7A-818A-7B584516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B3A7-56C5-9E90-1C72-C271FF2A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Design Documents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84A84-84FC-685C-AD3B-160A0818689E}"/>
              </a:ext>
            </a:extLst>
          </p:cNvPr>
          <p:cNvSpPr txBox="1"/>
          <p:nvPr/>
        </p:nvSpPr>
        <p:spPr>
          <a:xfrm>
            <a:off x="3166054" y="6410867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</a:rPr>
              <a:t>Use Case Diagram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D3178-1EEE-6850-1957-2C6CA40058F6}"/>
              </a:ext>
            </a:extLst>
          </p:cNvPr>
          <p:cNvSpPr txBox="1"/>
          <p:nvPr/>
        </p:nvSpPr>
        <p:spPr>
          <a:xfrm>
            <a:off x="7970308" y="6410867"/>
            <a:ext cx="2965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latin typeface="Times New Roman" panose="02020603050405020304" pitchFamily="18" charset="0"/>
                <a:ea typeface="Verdana" panose="020B0604030504040204" pitchFamily="34" charset="0"/>
              </a:rPr>
              <a:t>Admin Sequence Diagram</a:t>
            </a:r>
            <a:endParaRPr lang="en-IN" dirty="0"/>
          </a:p>
        </p:txBody>
      </p:sp>
      <p:pic>
        <p:nvPicPr>
          <p:cNvPr id="3" name="Picture 2" descr="A diagram of a patient&#10;&#10;AI-generated content may be incorrect.">
            <a:extLst>
              <a:ext uri="{FF2B5EF4-FFF2-40B4-BE49-F238E27FC236}">
                <a16:creationId xmlns:a16="http://schemas.microsoft.com/office/drawing/2014/main" id="{90C15B15-8960-E64E-D68F-F02B54107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042" y="1730587"/>
            <a:ext cx="4521624" cy="4680280"/>
          </a:xfrm>
          <a:prstGeom prst="rect">
            <a:avLst/>
          </a:prstGeom>
        </p:spPr>
      </p:pic>
      <p:pic>
        <p:nvPicPr>
          <p:cNvPr id="4" name="Picture 3" descr="A diagram of a data flow&#10;&#10;AI-generated content may be incorrect.">
            <a:extLst>
              <a:ext uri="{FF2B5EF4-FFF2-40B4-BE49-F238E27FC236}">
                <a16:creationId xmlns:a16="http://schemas.microsoft.com/office/drawing/2014/main" id="{92319379-280A-F3B9-E55E-75C717C10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842" y="1662585"/>
            <a:ext cx="4103158" cy="474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96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50E3-C67B-479D-8B76-1E68AEA61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7E03-5A5D-C260-F329-90E7E37D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Design Documents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8B48B-4B4F-AE4E-85AF-6B4A2D208BDC}"/>
              </a:ext>
            </a:extLst>
          </p:cNvPr>
          <p:cNvSpPr txBox="1"/>
          <p:nvPr/>
        </p:nvSpPr>
        <p:spPr>
          <a:xfrm>
            <a:off x="7970308" y="6410867"/>
            <a:ext cx="2965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latin typeface="Times New Roman" panose="02020603050405020304" pitchFamily="18" charset="0"/>
                <a:ea typeface="Verdana" panose="020B0604030504040204" pitchFamily="34" charset="0"/>
              </a:rPr>
              <a:t>Patient Sequence Diagram</a:t>
            </a:r>
            <a:endParaRPr lang="en-IN" dirty="0"/>
          </a:p>
        </p:txBody>
      </p:sp>
      <p:pic>
        <p:nvPicPr>
          <p:cNvPr id="5" name="Picture 4" descr="A diagram of a data flow&#10;&#10;AI-generated content may be incorrect.">
            <a:extLst>
              <a:ext uri="{FF2B5EF4-FFF2-40B4-BE49-F238E27FC236}">
                <a16:creationId xmlns:a16="http://schemas.microsoft.com/office/drawing/2014/main" id="{7B1196DA-7925-B30A-BA59-32968458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703" y="1591732"/>
            <a:ext cx="4509029" cy="4732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2C79F9-693A-AA0B-FA25-A46D9EE78FA2}"/>
              </a:ext>
            </a:extLst>
          </p:cNvPr>
          <p:cNvSpPr txBox="1"/>
          <p:nvPr/>
        </p:nvSpPr>
        <p:spPr>
          <a:xfrm>
            <a:off x="2941107" y="6410867"/>
            <a:ext cx="2965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latin typeface="Times New Roman" panose="02020603050405020304" pitchFamily="18" charset="0"/>
                <a:ea typeface="Verdana" panose="020B0604030504040204" pitchFamily="34" charset="0"/>
              </a:rPr>
              <a:t>Doctor Sequence Diagram</a:t>
            </a:r>
            <a:endParaRPr lang="en-IN" dirty="0"/>
          </a:p>
        </p:txBody>
      </p:sp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7F01274-4D85-E844-CF25-6BE51A3A0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125" y="1591732"/>
            <a:ext cx="4406898" cy="473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28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8F06B-6029-F694-C37E-22C6737D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6E0B-DADD-E33A-33FB-2830A502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2467"/>
            <a:ext cx="10018713" cy="1752599"/>
          </a:xfrm>
        </p:spPr>
        <p:txBody>
          <a:bodyPr/>
          <a:lstStyle/>
          <a:p>
            <a:r>
              <a:rPr lang="en-IN" b="1" dirty="0"/>
              <a:t>Design Documents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FC997-11CD-6F97-F090-50A5AA9B7225}"/>
              </a:ext>
            </a:extLst>
          </p:cNvPr>
          <p:cNvSpPr txBox="1"/>
          <p:nvPr/>
        </p:nvSpPr>
        <p:spPr>
          <a:xfrm>
            <a:off x="5658907" y="6226201"/>
            <a:ext cx="1800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latin typeface="Times New Roman" panose="02020603050405020304" pitchFamily="18" charset="0"/>
                <a:ea typeface="Verdana" panose="020B0604030504040204" pitchFamily="34" charset="0"/>
              </a:rPr>
              <a:t>ER - Diagram</a:t>
            </a:r>
            <a:endParaRPr lang="en-IN" dirty="0"/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E547E879-9D5B-999B-ABC1-525A47D9A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267" y="1585621"/>
            <a:ext cx="7213600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77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5D99-2B20-6988-C75D-5E1D5EA6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37D2A-110F-EF39-92B0-BBC2EC62D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Testing: Verified login, image upload, prediction output.</a:t>
            </a:r>
          </a:p>
          <a:p>
            <a:r>
              <a:rPr lang="en-US" dirty="0"/>
              <a:t>Integration Testing: Verified interaction between modules.</a:t>
            </a:r>
          </a:p>
          <a:p>
            <a:r>
              <a:rPr lang="en-US" dirty="0"/>
              <a:t>Accuracy: 95.25% with validation set.</a:t>
            </a:r>
          </a:p>
          <a:p>
            <a:r>
              <a:rPr lang="en-US" dirty="0"/>
              <a:t>Cross-validation confirms stability (±1.3%).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19227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22AD-F002-1346-B9A8-F24C11EDE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Testing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E0D70A-F3F5-D072-63A9-1F0A77F7E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709397"/>
              </p:ext>
            </p:extLst>
          </p:nvPr>
        </p:nvGraphicFramePr>
        <p:xfrm>
          <a:off x="1716755" y="2308965"/>
          <a:ext cx="4861845" cy="36177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12044">
                  <a:extLst>
                    <a:ext uri="{9D8B030D-6E8A-4147-A177-3AD203B41FA5}">
                      <a16:colId xmlns:a16="http://schemas.microsoft.com/office/drawing/2014/main" val="1623540446"/>
                    </a:ext>
                  </a:extLst>
                </a:gridCol>
                <a:gridCol w="1289118">
                  <a:extLst>
                    <a:ext uri="{9D8B030D-6E8A-4147-A177-3AD203B41FA5}">
                      <a16:colId xmlns:a16="http://schemas.microsoft.com/office/drawing/2014/main" val="330182765"/>
                    </a:ext>
                  </a:extLst>
                </a:gridCol>
                <a:gridCol w="1195373">
                  <a:extLst>
                    <a:ext uri="{9D8B030D-6E8A-4147-A177-3AD203B41FA5}">
                      <a16:colId xmlns:a16="http://schemas.microsoft.com/office/drawing/2014/main" val="683125558"/>
                    </a:ext>
                  </a:extLst>
                </a:gridCol>
                <a:gridCol w="1265310">
                  <a:extLst>
                    <a:ext uri="{9D8B030D-6E8A-4147-A177-3AD203B41FA5}">
                      <a16:colId xmlns:a16="http://schemas.microsoft.com/office/drawing/2014/main" val="3515136337"/>
                    </a:ext>
                  </a:extLst>
                </a:gridCol>
              </a:tblGrid>
              <a:tr h="4971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Tests cases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Inputs Given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Description of the Test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Output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extLst>
                  <a:ext uri="{0D108BD9-81ED-4DB2-BD59-A6C34878D82A}">
                    <a16:rowId xmlns:a16="http://schemas.microsoft.com/office/drawing/2014/main" val="3927602768"/>
                  </a:ext>
                </a:extLst>
              </a:tr>
              <a:tr h="4971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If any field found empty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Each value must be filled.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All  values must be entered.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extLst>
                  <a:ext uri="{0D108BD9-81ED-4DB2-BD59-A6C34878D82A}">
                    <a16:rowId xmlns:a16="http://schemas.microsoft.com/office/drawing/2014/main" val="421297602"/>
                  </a:ext>
                </a:extLst>
              </a:tr>
              <a:tr h="758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Username is Text</a:t>
                      </a:r>
                      <a:endParaRPr lang="en-IN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Valid username needed to be entered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Enter genuine username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extLst>
                  <a:ext uri="{0D108BD9-81ED-4DB2-BD59-A6C34878D82A}">
                    <a16:rowId xmlns:a16="http://schemas.microsoft.com/office/drawing/2014/main" val="1711922483"/>
                  </a:ext>
                </a:extLst>
              </a:tr>
              <a:tr h="492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4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If Password is blank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Password is empty</a:t>
                      </a:r>
                      <a:endParaRPr lang="en-IN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Enter the password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extLst>
                  <a:ext uri="{0D108BD9-81ED-4DB2-BD59-A6C34878D82A}">
                    <a16:rowId xmlns:a16="http://schemas.microsoft.com/office/drawing/2014/main" val="2789514822"/>
                  </a:ext>
                </a:extLst>
              </a:tr>
              <a:tr h="8747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5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Password Confirmation</a:t>
                      </a:r>
                      <a:endParaRPr lang="en-IN" sz="10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does not congruent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The right password should be used</a:t>
                      </a:r>
                      <a:endParaRPr lang="en-IN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Mismatched password is detected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extLst>
                  <a:ext uri="{0D108BD9-81ED-4DB2-BD59-A6C34878D82A}">
                    <a16:rowId xmlns:a16="http://schemas.microsoft.com/office/drawing/2014/main" val="1637495612"/>
                  </a:ext>
                </a:extLst>
              </a:tr>
              <a:tr h="4971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6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Valid input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Valid input</a:t>
                      </a:r>
                      <a:endParaRPr lang="en-IN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Registrations successful</a:t>
                      </a:r>
                      <a:endParaRPr lang="en-IN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60" marR="56760" marT="0" marB="0"/>
                </a:tc>
                <a:extLst>
                  <a:ext uri="{0D108BD9-81ED-4DB2-BD59-A6C34878D82A}">
                    <a16:rowId xmlns:a16="http://schemas.microsoft.com/office/drawing/2014/main" val="6449151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92C2A8-4F8A-A90C-A35F-4E18CFA5B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01243"/>
              </p:ext>
            </p:extLst>
          </p:nvPr>
        </p:nvGraphicFramePr>
        <p:xfrm>
          <a:off x="6811044" y="2308965"/>
          <a:ext cx="5036821" cy="225456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573359">
                  <a:extLst>
                    <a:ext uri="{9D8B030D-6E8A-4147-A177-3AD203B41FA5}">
                      <a16:colId xmlns:a16="http://schemas.microsoft.com/office/drawing/2014/main" val="229964188"/>
                    </a:ext>
                  </a:extLst>
                </a:gridCol>
                <a:gridCol w="1296024">
                  <a:extLst>
                    <a:ext uri="{9D8B030D-6E8A-4147-A177-3AD203B41FA5}">
                      <a16:colId xmlns:a16="http://schemas.microsoft.com/office/drawing/2014/main" val="1407786515"/>
                    </a:ext>
                  </a:extLst>
                </a:gridCol>
                <a:gridCol w="1583465">
                  <a:extLst>
                    <a:ext uri="{9D8B030D-6E8A-4147-A177-3AD203B41FA5}">
                      <a16:colId xmlns:a16="http://schemas.microsoft.com/office/drawing/2014/main" val="3023249521"/>
                    </a:ext>
                  </a:extLst>
                </a:gridCol>
                <a:gridCol w="1583973">
                  <a:extLst>
                    <a:ext uri="{9D8B030D-6E8A-4147-A177-3AD203B41FA5}">
                      <a16:colId xmlns:a16="http://schemas.microsoft.com/office/drawing/2014/main" val="1109239921"/>
                    </a:ext>
                  </a:extLst>
                </a:gridCol>
              </a:tblGrid>
              <a:tr h="5308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Test cases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Inputs Given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Descriptions of the Test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Output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56334048"/>
                  </a:ext>
                </a:extLst>
              </a:tr>
              <a:tr h="9348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Required</a:t>
                      </a:r>
                      <a:endParaRPr lang="en-IN" sz="1200" kern="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fields are not packed out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Mandatory fields</a:t>
                      </a:r>
                      <a:endParaRPr lang="en-IN" sz="1200" kern="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must not be left blank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Displays an</a:t>
                      </a:r>
                      <a:endParaRPr lang="en-IN" sz="1200" kern="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error message as expected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32791192"/>
                  </a:ext>
                </a:extLst>
              </a:tr>
              <a:tr h="7888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 duplicate entry is provided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Duplicate entries should be disallowed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Displays an error message as expected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525751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A8C1B0-48C7-A041-53C0-7CA7C88959B6}"/>
              </a:ext>
            </a:extLst>
          </p:cNvPr>
          <p:cNvSpPr txBox="1"/>
          <p:nvPr/>
        </p:nvSpPr>
        <p:spPr>
          <a:xfrm>
            <a:off x="7230533" y="46582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Integration Test Cases for Data Insertion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84F34-2FEF-3324-214F-8A0BF6ED994A}"/>
              </a:ext>
            </a:extLst>
          </p:cNvPr>
          <p:cNvSpPr txBox="1"/>
          <p:nvPr/>
        </p:nvSpPr>
        <p:spPr>
          <a:xfrm>
            <a:off x="2832100" y="5987534"/>
            <a:ext cx="291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Unit Testing for registration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845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115E-1B37-EA54-E5C8-8959706C6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12BC0-AF4F-A693-467D-78FAF9B41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09799"/>
            <a:ext cx="10018713" cy="39624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500" b="1" dirty="0"/>
              <a:t>Algorithm (CNN Pipeline)</a:t>
            </a:r>
          </a:p>
          <a:p>
            <a:pPr marL="0" indent="0">
              <a:buNone/>
            </a:pPr>
            <a:endParaRPr lang="en-IN" sz="3500" dirty="0"/>
          </a:p>
          <a:p>
            <a:r>
              <a:rPr lang="en-IN" dirty="0"/>
              <a:t>Resize (224×224)</a:t>
            </a:r>
          </a:p>
          <a:p>
            <a:r>
              <a:rPr lang="en-IN" dirty="0"/>
              <a:t>Normalize (0–1)</a:t>
            </a:r>
          </a:p>
          <a:p>
            <a:r>
              <a:rPr lang="en-IN" dirty="0"/>
              <a:t>Augment (rotation, flip, scale)</a:t>
            </a:r>
          </a:p>
          <a:p>
            <a:r>
              <a:rPr lang="en-IN" dirty="0"/>
              <a:t>Feature extraction (VGG16 pre-trained)</a:t>
            </a:r>
          </a:p>
          <a:p>
            <a:r>
              <a:rPr lang="en-IN" dirty="0"/>
              <a:t>Dense layers + </a:t>
            </a:r>
            <a:r>
              <a:rPr lang="en-IN" dirty="0" err="1"/>
              <a:t>Softmax</a:t>
            </a:r>
            <a:endParaRPr lang="en-IN" dirty="0"/>
          </a:p>
          <a:p>
            <a:r>
              <a:rPr lang="en-IN" dirty="0"/>
              <a:t>Prediction stored in DB.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21232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1AA8-7B91-226D-8D20-334D739C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366E4-A11F-D4C8-4FA7-3C1C8941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2457E-4AD0-EB62-53AD-BBA8AED08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811867"/>
            <a:ext cx="10018713" cy="4766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Preprocessing</a:t>
            </a:r>
            <a:endParaRPr lang="en-IN" dirty="0"/>
          </a:p>
          <a:p>
            <a:r>
              <a:rPr lang="en-IN" dirty="0"/>
              <a:t>Contrast enhancement (10%).</a:t>
            </a:r>
          </a:p>
          <a:p>
            <a:r>
              <a:rPr lang="en-IN" dirty="0"/>
              <a:t>Random augmentation.</a:t>
            </a:r>
          </a:p>
          <a:p>
            <a:r>
              <a:rPr lang="en-IN" dirty="0"/>
              <a:t>Avoid overfitting.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Tools Used</a:t>
            </a:r>
            <a:endParaRPr lang="en-IN" dirty="0"/>
          </a:p>
          <a:p>
            <a:r>
              <a:rPr lang="en-IN" dirty="0"/>
              <a:t>Frontend: HTML, CSS, JS</a:t>
            </a:r>
          </a:p>
          <a:p>
            <a:r>
              <a:rPr lang="en-IN" dirty="0"/>
              <a:t>Backend: Flask, Python, MySQL</a:t>
            </a:r>
          </a:p>
          <a:p>
            <a:r>
              <a:rPr lang="en-IN" dirty="0"/>
              <a:t>Dev: VS Code, PyCharm, XAMPP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74275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81330-9E92-ED00-74C0-BB6C6CE7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A3EB-9874-CEE0-F130-13F95FCB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8884-3787-2A39-2304-CC5712541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09799"/>
            <a:ext cx="10018713" cy="5080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PSEUDO CODE FOR LUNG CANCER DETECTION</a:t>
            </a:r>
          </a:p>
          <a:p>
            <a:pPr marL="0" indent="0">
              <a:buNone/>
            </a:pPr>
            <a:endParaRPr lang="en-IN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A7946-0628-B1C6-69FA-DE8F027D37CD}"/>
              </a:ext>
            </a:extLst>
          </p:cNvPr>
          <p:cNvSpPr txBox="1"/>
          <p:nvPr/>
        </p:nvSpPr>
        <p:spPr>
          <a:xfrm>
            <a:off x="1484311" y="2082840"/>
            <a:ext cx="4401820" cy="467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Input: High-resolution CT-Scan images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Preprocess the images: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Apply normalization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Perform noise reduction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Apply contrast enhancement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Standardize image size and resolution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Extract features:</a:t>
            </a:r>
            <a:endParaRPr lang="en-IN" sz="16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    Identify texture, shape, density, and cancer size</a:t>
            </a:r>
            <a:endParaRPr lang="en-IN" sz="16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9E2863-6F31-2EE6-3586-A91127CD448D}"/>
              </a:ext>
            </a:extLst>
          </p:cNvPr>
          <p:cNvCxnSpPr>
            <a:cxnSpLocks/>
          </p:cNvCxnSpPr>
          <p:nvPr/>
        </p:nvCxnSpPr>
        <p:spPr>
          <a:xfrm>
            <a:off x="5841258" y="2311349"/>
            <a:ext cx="0" cy="39116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A46474-D8B5-8C30-C1F6-2790FAE726A7}"/>
              </a:ext>
            </a:extLst>
          </p:cNvPr>
          <p:cNvSpPr txBox="1"/>
          <p:nvPr/>
        </p:nvSpPr>
        <p:spPr>
          <a:xfrm>
            <a:off x="6004717" y="2209799"/>
            <a:ext cx="5379720" cy="3625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Analyze using Convolutional Neural Network (CNN) features: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Classify cancer as benign or malignant based on trained dataset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If cancer is malignant: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Recommend further medical evaluations and treatment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Else if cancer is benign: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  Suggest routine monitoring and preventive measures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End</a:t>
            </a:r>
            <a:endParaRPr lang="en-IN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11743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DE6A-C489-4094-7147-A1AA516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Lung Cancer Detection System Using CNN and Machine Learning Algorithms</a:t>
            </a:r>
            <a:br>
              <a:rPr lang="en-IN" b="1" dirty="0"/>
            </a:br>
            <a:r>
              <a:rPr lang="en-IN" b="1" dirty="0"/>
              <a:t>(Research Paper)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0D077-B9F1-991F-D10F-CE8976852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8438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/>
              <a:t>Abstract:</a:t>
            </a:r>
          </a:p>
          <a:p>
            <a:pPr marL="0" indent="0">
              <a:buNone/>
            </a:pPr>
            <a:r>
              <a:rPr lang="en-US" b="1" dirty="0"/>
              <a:t> </a:t>
            </a:r>
          </a:p>
          <a:p>
            <a:r>
              <a:rPr lang="en-US" dirty="0"/>
              <a:t>Lung cancer is a leading cause of cancer-related deaths globally.</a:t>
            </a:r>
          </a:p>
          <a:p>
            <a:r>
              <a:rPr lang="en-US" dirty="0"/>
              <a:t>Early detection is critical for improving survival rates.</a:t>
            </a:r>
          </a:p>
          <a:p>
            <a:r>
              <a:rPr lang="en-US" dirty="0"/>
              <a:t>Proposed: CNN-based approach integrating </a:t>
            </a:r>
            <a:r>
              <a:rPr lang="en-US" b="1" dirty="0"/>
              <a:t>VGG16</a:t>
            </a:r>
            <a:r>
              <a:rPr lang="en-US" dirty="0"/>
              <a:t> for classification of CT scan images into </a:t>
            </a:r>
            <a:r>
              <a:rPr lang="en-US" b="1" dirty="0"/>
              <a:t>Normal, Benign, Malignant</a:t>
            </a:r>
            <a:r>
              <a:rPr lang="en-US" dirty="0"/>
              <a:t>.</a:t>
            </a:r>
          </a:p>
          <a:p>
            <a:r>
              <a:rPr lang="en-US" dirty="0"/>
              <a:t>Web-based platform supports </a:t>
            </a:r>
            <a:r>
              <a:rPr lang="en-US" b="1" dirty="0"/>
              <a:t>Admin, Doctor, Patient</a:t>
            </a:r>
            <a:r>
              <a:rPr lang="en-US" dirty="0"/>
              <a:t> roles for real-world usability.</a:t>
            </a:r>
          </a:p>
          <a:p>
            <a:r>
              <a:rPr lang="en-US" dirty="0"/>
              <a:t>Achieved </a:t>
            </a:r>
            <a:r>
              <a:rPr lang="en-US" b="1" dirty="0"/>
              <a:t>95.25% accuracy</a:t>
            </a:r>
            <a:r>
              <a:rPr lang="en-US" dirty="0"/>
              <a:t> on IQ-OTH/NCCD dataset after 100 training epochs.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671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B5030-FBD9-A343-0076-EC45FFDB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C3B37-91E3-0233-B2FD-0DD90288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Lung Cancer Detection System Using CNN and Machine Learning Algorithms</a:t>
            </a:r>
            <a:br>
              <a:rPr lang="en-IN" b="1" dirty="0"/>
            </a:br>
            <a:r>
              <a:rPr lang="en-IN" b="1" dirty="0"/>
              <a:t>(Research Paper)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51387-B4B5-E0E0-D6D3-0AD23508E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84386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5100" b="1" dirty="0"/>
              <a:t>Objectives:</a:t>
            </a:r>
          </a:p>
          <a:p>
            <a:pPr marL="0" indent="0">
              <a:buNone/>
            </a:pPr>
            <a:endParaRPr lang="en-US" sz="3600" b="1" dirty="0"/>
          </a:p>
          <a:p>
            <a:r>
              <a:rPr lang="en-US" sz="3600" dirty="0"/>
              <a:t>Enable </a:t>
            </a:r>
            <a:r>
              <a:rPr lang="en-US" sz="3600" b="1" dirty="0"/>
              <a:t>early and accurate</a:t>
            </a:r>
            <a:r>
              <a:rPr lang="en-US" sz="3600" dirty="0"/>
              <a:t> detection of lung cancer from CT scans.</a:t>
            </a:r>
          </a:p>
          <a:p>
            <a:r>
              <a:rPr lang="en-US" sz="3600" dirty="0"/>
              <a:t>Provide a </a:t>
            </a:r>
            <a:r>
              <a:rPr lang="en-US" sz="3600" b="1" dirty="0"/>
              <a:t>cost-effective, scalable</a:t>
            </a:r>
            <a:r>
              <a:rPr lang="en-US" sz="3600" dirty="0"/>
              <a:t> AI-based solution.</a:t>
            </a:r>
          </a:p>
          <a:p>
            <a:r>
              <a:rPr lang="en-US" sz="3600" dirty="0"/>
              <a:t>Reduce diagnostic delays by </a:t>
            </a:r>
            <a:r>
              <a:rPr lang="en-US" sz="3600" b="1" dirty="0"/>
              <a:t>assisting radiologists</a:t>
            </a:r>
            <a:r>
              <a:rPr lang="en-US" sz="3600" dirty="0"/>
              <a:t> in decision-making.</a:t>
            </a:r>
          </a:p>
          <a:p>
            <a:r>
              <a:rPr lang="en-US" sz="3600" dirty="0"/>
              <a:t>Implement a </a:t>
            </a:r>
            <a:r>
              <a:rPr lang="en-US" sz="3600" b="1" dirty="0"/>
              <a:t>role-based web system</a:t>
            </a:r>
            <a:r>
              <a:rPr lang="en-US" sz="3600" dirty="0"/>
              <a:t> with user authentication, prediction storage, and PDF report generation.</a:t>
            </a:r>
          </a:p>
          <a:p>
            <a:r>
              <a:rPr lang="en-US" sz="3600" dirty="0"/>
              <a:t>Validate performance using </a:t>
            </a:r>
            <a:r>
              <a:rPr lang="en-US" sz="3600" b="1" dirty="0"/>
              <a:t>accuracy, sensitivity, specificity, and F1-score</a:t>
            </a:r>
            <a:r>
              <a:rPr lang="en-US" sz="3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7491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C593-3122-9C31-A34E-8F8B69CB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EE35-B911-91A4-AD2A-66866882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Lung Cancer Detection System Using CNN and Machine Learning Algorithms</a:t>
            </a:r>
            <a:br>
              <a:rPr lang="en-IN" b="1" dirty="0"/>
            </a:br>
            <a:r>
              <a:rPr lang="en-IN" b="1" dirty="0"/>
              <a:t>(Research Paper)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84491-485F-E0E8-5958-E0A3E22A5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6153" y="2150533"/>
            <a:ext cx="10018714" cy="494453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8000" b="1" dirty="0"/>
              <a:t>Methodology:</a:t>
            </a:r>
            <a:endParaRPr lang="en-IN" sz="8000" dirty="0"/>
          </a:p>
          <a:p>
            <a:r>
              <a:rPr lang="en-IN" sz="4800" b="1" dirty="0"/>
              <a:t>Dataset:</a:t>
            </a:r>
            <a:r>
              <a:rPr lang="en-IN" sz="4800" dirty="0"/>
              <a:t> IQ-OTH/NCCD – 9,600 images (Normal / Benign / Malignant).</a:t>
            </a:r>
          </a:p>
          <a:p>
            <a:r>
              <a:rPr lang="en-IN" sz="4800" b="1" dirty="0"/>
              <a:t>Preprocessing:</a:t>
            </a:r>
            <a:r>
              <a:rPr lang="en-IN" sz="4800" dirty="0"/>
              <a:t> Resizing (224×224), normalization, data augmentation.</a:t>
            </a:r>
          </a:p>
          <a:p>
            <a:r>
              <a:rPr lang="en-IN" sz="4800" b="1" dirty="0"/>
              <a:t>Model:</a:t>
            </a:r>
            <a:r>
              <a:rPr lang="en-IN" sz="4800" dirty="0"/>
              <a:t> VGG16 base (pre-trained on ImageNet) + custom dense layers + </a:t>
            </a:r>
            <a:r>
              <a:rPr lang="en-IN" sz="4800" dirty="0" err="1"/>
              <a:t>Softmax</a:t>
            </a:r>
            <a:r>
              <a:rPr lang="en-IN" sz="4800" dirty="0"/>
              <a:t>.</a:t>
            </a:r>
          </a:p>
          <a:p>
            <a:r>
              <a:rPr lang="en-IN" sz="4800" b="1" dirty="0"/>
              <a:t>Training:</a:t>
            </a:r>
            <a:r>
              <a:rPr lang="en-IN" sz="4800" dirty="0"/>
              <a:t> Adam optimizer, Sparse Categorical </a:t>
            </a:r>
            <a:r>
              <a:rPr lang="en-IN" sz="4800" dirty="0" err="1"/>
              <a:t>Crossentropy</a:t>
            </a:r>
            <a:r>
              <a:rPr lang="en-IN" sz="4800" dirty="0"/>
              <a:t> loss, 100 epochs, 80:20 split.</a:t>
            </a:r>
          </a:p>
          <a:p>
            <a:r>
              <a:rPr lang="en-IN" sz="4800" b="1" dirty="0"/>
              <a:t>Evaluation:</a:t>
            </a:r>
            <a:r>
              <a:rPr lang="en-IN" sz="4800" dirty="0"/>
              <a:t> Tested on unseen images, metrics recorded.</a:t>
            </a:r>
          </a:p>
          <a:p>
            <a:pPr marL="0" indent="0">
              <a:buNone/>
            </a:pPr>
            <a:endParaRPr lang="en-IN" sz="4800" b="1" dirty="0"/>
          </a:p>
          <a:p>
            <a:pPr marL="0" indent="0">
              <a:buNone/>
            </a:pPr>
            <a:r>
              <a:rPr lang="en-IN" sz="8000" b="1" dirty="0"/>
              <a:t>Conclusion:</a:t>
            </a:r>
            <a:endParaRPr lang="en-IN" sz="8000" dirty="0"/>
          </a:p>
          <a:p>
            <a:r>
              <a:rPr lang="en-IN" sz="4800" dirty="0"/>
              <a:t>Model achieved </a:t>
            </a:r>
            <a:r>
              <a:rPr lang="en-IN" sz="4800" b="1" dirty="0"/>
              <a:t>95.25% accuracy</a:t>
            </a:r>
            <a:r>
              <a:rPr lang="en-IN" sz="4800" dirty="0"/>
              <a:t>, outperforming several existing methods.</a:t>
            </a:r>
          </a:p>
          <a:p>
            <a:r>
              <a:rPr lang="en-IN" sz="4800" dirty="0"/>
              <a:t>Fast prediction time (~4.7s) makes it suitable for clinical workflows.</a:t>
            </a:r>
          </a:p>
          <a:p>
            <a:r>
              <a:rPr lang="en-IN" sz="4800" dirty="0"/>
              <a:t>Demonstrates strong potential as a </a:t>
            </a:r>
            <a:r>
              <a:rPr lang="en-IN" sz="4800" b="1" dirty="0"/>
              <a:t>decision-support tool</a:t>
            </a:r>
            <a:r>
              <a:rPr lang="en-IN" sz="4800" dirty="0"/>
              <a:t>, not a replacement for radiologists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41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5411-F2BD-3E59-E274-02F52921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C6A05-4240-12FD-F494-0BA644ED8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3680357" cy="312420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Performance Metrics</a:t>
            </a:r>
            <a:endParaRPr lang="en-IN" dirty="0"/>
          </a:p>
          <a:p>
            <a:r>
              <a:rPr lang="en-IN" dirty="0"/>
              <a:t>Accuracy: 95.25%</a:t>
            </a:r>
          </a:p>
          <a:p>
            <a:r>
              <a:rPr lang="en-IN" dirty="0"/>
              <a:t>Sensitivity: 95.1%</a:t>
            </a:r>
          </a:p>
          <a:p>
            <a:r>
              <a:rPr lang="en-IN" dirty="0"/>
              <a:t>Specificity: 97.3%</a:t>
            </a:r>
          </a:p>
          <a:p>
            <a:r>
              <a:rPr lang="en-IN" dirty="0"/>
              <a:t>F1-Score: ~94–96%.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D4BFB-AFC1-B03D-0295-830527E1FBDF}"/>
              </a:ext>
            </a:extLst>
          </p:cNvPr>
          <p:cNvSpPr txBox="1">
            <a:spLocks/>
          </p:cNvSpPr>
          <p:nvPr/>
        </p:nvSpPr>
        <p:spPr>
          <a:xfrm>
            <a:off x="5641443" y="2666998"/>
            <a:ext cx="5475290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Key Metric Formulas</a:t>
            </a:r>
          </a:p>
          <a:p>
            <a:r>
              <a:rPr lang="en-IN" dirty="0"/>
              <a:t>Accuracy = (TP + TN) / (TP + TN + FP + FN)</a:t>
            </a:r>
          </a:p>
          <a:p>
            <a:r>
              <a:rPr lang="en-IN" dirty="0"/>
              <a:t>Sensitivity (Recall) = TP / (TP + FN)</a:t>
            </a:r>
          </a:p>
          <a:p>
            <a:r>
              <a:rPr lang="en-IN" dirty="0"/>
              <a:t>Specificity = TN / (TN + FP)</a:t>
            </a:r>
          </a:p>
          <a:p>
            <a:r>
              <a:rPr lang="en-IN" dirty="0"/>
              <a:t>F1-Score = 2 × (Precision × Recall) / (Precision + Recall)</a:t>
            </a:r>
            <a:br>
              <a:rPr lang="en-IN" dirty="0"/>
            </a:br>
            <a:r>
              <a:rPr lang="en-IN" dirty="0"/>
              <a:t>                      </a:t>
            </a:r>
          </a:p>
        </p:txBody>
      </p:sp>
    </p:spTree>
    <p:extLst>
      <p:ext uri="{BB962C8B-B14F-4D97-AF65-F5344CB8AC3E}">
        <p14:creationId xmlns:p14="http://schemas.microsoft.com/office/powerpoint/2010/main" val="318655617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07BA-1A77-E4DD-6BC2-A4AEB0C4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2DDA1-B1D1-2C7A-3224-797C5725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2892E-DFF1-D88C-BF46-119FC3CBB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3680357" cy="312420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System Performance</a:t>
            </a:r>
            <a:endParaRPr lang="en-US" dirty="0"/>
          </a:p>
          <a:p>
            <a:r>
              <a:rPr lang="en-US" dirty="0"/>
              <a:t>Image upload: 2.3s</a:t>
            </a:r>
          </a:p>
          <a:p>
            <a:r>
              <a:rPr lang="en-US" dirty="0"/>
              <a:t>Prediction: 4.7s</a:t>
            </a:r>
          </a:p>
          <a:p>
            <a:r>
              <a:rPr lang="en-US" dirty="0"/>
              <a:t>DB query: 0.8s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70E937-2412-C3FF-6979-2F21B3D1E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548671"/>
              </p:ext>
            </p:extLst>
          </p:nvPr>
        </p:nvGraphicFramePr>
        <p:xfrm>
          <a:off x="6053666" y="2789474"/>
          <a:ext cx="5139265" cy="35708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7739">
                  <a:extLst>
                    <a:ext uri="{9D8B030D-6E8A-4147-A177-3AD203B41FA5}">
                      <a16:colId xmlns:a16="http://schemas.microsoft.com/office/drawing/2014/main" val="1248707654"/>
                    </a:ext>
                  </a:extLst>
                </a:gridCol>
                <a:gridCol w="1027739">
                  <a:extLst>
                    <a:ext uri="{9D8B030D-6E8A-4147-A177-3AD203B41FA5}">
                      <a16:colId xmlns:a16="http://schemas.microsoft.com/office/drawing/2014/main" val="1041448217"/>
                    </a:ext>
                  </a:extLst>
                </a:gridCol>
                <a:gridCol w="1027739">
                  <a:extLst>
                    <a:ext uri="{9D8B030D-6E8A-4147-A177-3AD203B41FA5}">
                      <a16:colId xmlns:a16="http://schemas.microsoft.com/office/drawing/2014/main" val="1934161460"/>
                    </a:ext>
                  </a:extLst>
                </a:gridCol>
                <a:gridCol w="1027739">
                  <a:extLst>
                    <a:ext uri="{9D8B030D-6E8A-4147-A177-3AD203B41FA5}">
                      <a16:colId xmlns:a16="http://schemas.microsoft.com/office/drawing/2014/main" val="4272256609"/>
                    </a:ext>
                  </a:extLst>
                </a:gridCol>
                <a:gridCol w="1028309">
                  <a:extLst>
                    <a:ext uri="{9D8B030D-6E8A-4147-A177-3AD203B41FA5}">
                      <a16:colId xmlns:a16="http://schemas.microsoft.com/office/drawing/2014/main" val="3276561196"/>
                    </a:ext>
                  </a:extLst>
                </a:gridCol>
              </a:tblGrid>
              <a:tr h="7798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tx1"/>
                          </a:solidFill>
                          <a:effectLst/>
                        </a:rPr>
                        <a:t>Class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Accuracy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Sensitivity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Specificity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F1-Score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0170671"/>
                  </a:ext>
                </a:extLst>
              </a:tr>
              <a:tr h="8893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Normal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96.2%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95.8%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96.5%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96%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9679486"/>
                  </a:ext>
                </a:extLst>
              </a:tr>
              <a:tr h="9742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tx1"/>
                          </a:solidFill>
                          <a:effectLst/>
                        </a:rPr>
                        <a:t>Benign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94.1%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93.7%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94.4%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94%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5252134"/>
                  </a:ext>
                </a:extLst>
              </a:tr>
              <a:tr h="9274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Malignant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95.4%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96.2%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94.8%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95%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13581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F8133A-D54D-DE60-33EA-4842ABD12710}"/>
              </a:ext>
            </a:extLst>
          </p:cNvPr>
          <p:cNvSpPr txBox="1"/>
          <p:nvPr/>
        </p:nvSpPr>
        <p:spPr>
          <a:xfrm>
            <a:off x="5747662" y="2288457"/>
            <a:ext cx="517503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   Class-wise Metrics: 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113547656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7A6BF-2A23-B78F-EE11-C3F57535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447800"/>
          </a:xfrm>
        </p:spPr>
        <p:txBody>
          <a:bodyPr/>
          <a:lstStyle/>
          <a:p>
            <a:r>
              <a:rPr lang="en-IN" b="1" dirty="0"/>
              <a:t>Screenshots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D6139-00CF-F748-4474-3D9B6A24C101}"/>
              </a:ext>
            </a:extLst>
          </p:cNvPr>
          <p:cNvSpPr txBox="1"/>
          <p:nvPr/>
        </p:nvSpPr>
        <p:spPr>
          <a:xfrm>
            <a:off x="3080173" y="5466078"/>
            <a:ext cx="198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Dashboard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1288D-26E0-A793-3B6B-B621A11C579D}"/>
              </a:ext>
            </a:extLst>
          </p:cNvPr>
          <p:cNvSpPr txBox="1"/>
          <p:nvPr/>
        </p:nvSpPr>
        <p:spPr>
          <a:xfrm>
            <a:off x="8683413" y="5466078"/>
            <a:ext cx="198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Doctor Home Page</a:t>
            </a:r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C57521-E0D8-DDFA-43DB-DCD2BDC0DD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40" y="2111391"/>
            <a:ext cx="5064760" cy="322844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7F197D-CCAC-C22E-2253-2DB52BA6A3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160" y="2098223"/>
            <a:ext cx="5336540" cy="319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E276-0062-3E08-90BE-0B728757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Screenshots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B79F7-E164-83AD-9E40-F5DE1689F9D5}"/>
              </a:ext>
            </a:extLst>
          </p:cNvPr>
          <p:cNvSpPr txBox="1"/>
          <p:nvPr/>
        </p:nvSpPr>
        <p:spPr>
          <a:xfrm>
            <a:off x="2853690" y="5802868"/>
            <a:ext cx="208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Patient Home Page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E1BD5-C1C3-0142-2FB3-371CFD24D4F6}"/>
              </a:ext>
            </a:extLst>
          </p:cNvPr>
          <p:cNvSpPr txBox="1"/>
          <p:nvPr/>
        </p:nvSpPr>
        <p:spPr>
          <a:xfrm>
            <a:off x="8598749" y="5802868"/>
            <a:ext cx="208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ML Prediction Page</a:t>
            </a:r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60CD0B-19CF-8A3F-A414-B99337B291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240" y="2342197"/>
            <a:ext cx="4968240" cy="3362325"/>
          </a:xfrm>
          <a:prstGeom prst="rect">
            <a:avLst/>
          </a:prstGeom>
        </p:spPr>
      </p:pic>
      <p:pic>
        <p:nvPicPr>
          <p:cNvPr id="7" name="Picture 6" descr="A hand holding a pen&#10;&#10;AI-generated content may be incorrect.">
            <a:extLst>
              <a:ext uri="{FF2B5EF4-FFF2-40B4-BE49-F238E27FC236}">
                <a16:creationId xmlns:a16="http://schemas.microsoft.com/office/drawing/2014/main" id="{A2A86858-F35D-B443-8399-DCD4EA2A95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980" y="2317432"/>
            <a:ext cx="5234940" cy="338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02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6B89-6F15-C8CB-424F-9638318E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0296-5F92-6B38-8602-08FE914E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Screenshots</a:t>
            </a:r>
            <a:endParaRPr lang="en-IN" dirty="0"/>
          </a:p>
        </p:txBody>
      </p:sp>
      <p:pic>
        <p:nvPicPr>
          <p:cNvPr id="3" name="Picture 2" descr="An x-ray of a chest&#10;&#10;AI-generated content may be incorrect.">
            <a:extLst>
              <a:ext uri="{FF2B5EF4-FFF2-40B4-BE49-F238E27FC236}">
                <a16:creationId xmlns:a16="http://schemas.microsoft.com/office/drawing/2014/main" id="{4D2F6E88-D221-BF62-550E-746472B0E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12" y="2186940"/>
            <a:ext cx="2666365" cy="2484120"/>
          </a:xfrm>
          <a:prstGeom prst="rect">
            <a:avLst/>
          </a:prstGeom>
        </p:spPr>
      </p:pic>
      <p:pic>
        <p:nvPicPr>
          <p:cNvPr id="8" name="Picture 7" descr="A close-up of an x-ray of a lung&#10;&#10;AI-generated content may be incorrect.">
            <a:extLst>
              <a:ext uri="{FF2B5EF4-FFF2-40B4-BE49-F238E27FC236}">
                <a16:creationId xmlns:a16="http://schemas.microsoft.com/office/drawing/2014/main" id="{89DF6ABA-8645-1452-0A3A-D6EE338C2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267" y="2255520"/>
            <a:ext cx="2651125" cy="2415540"/>
          </a:xfrm>
          <a:prstGeom prst="rect">
            <a:avLst/>
          </a:prstGeom>
        </p:spPr>
      </p:pic>
      <p:pic>
        <p:nvPicPr>
          <p:cNvPr id="9" name="Picture 8" descr="A close-up of a ct scan&#10;&#10;AI-generated content may be incorrect.">
            <a:extLst>
              <a:ext uri="{FF2B5EF4-FFF2-40B4-BE49-F238E27FC236}">
                <a16:creationId xmlns:a16="http://schemas.microsoft.com/office/drawing/2014/main" id="{14A0D0C7-6024-7BB8-A8E9-55E0CF533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93" y="2221230"/>
            <a:ext cx="2665095" cy="24155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CD6FF5-3D1A-9DDA-B349-D22B50A7EE6D}"/>
              </a:ext>
            </a:extLst>
          </p:cNvPr>
          <p:cNvSpPr txBox="1"/>
          <p:nvPr/>
        </p:nvSpPr>
        <p:spPr>
          <a:xfrm>
            <a:off x="8681392" y="4942510"/>
            <a:ext cx="29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CT-Scan for Benign Case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83462-F8DB-926B-1553-461DDDFAF844}"/>
              </a:ext>
            </a:extLst>
          </p:cNvPr>
          <p:cNvSpPr txBox="1"/>
          <p:nvPr/>
        </p:nvSpPr>
        <p:spPr>
          <a:xfrm>
            <a:off x="4950296" y="4942510"/>
            <a:ext cx="29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CT-Scan for Benign Case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DBEEE-9689-8B5C-DF39-28EC7842F736}"/>
              </a:ext>
            </a:extLst>
          </p:cNvPr>
          <p:cNvSpPr txBox="1"/>
          <p:nvPr/>
        </p:nvSpPr>
        <p:spPr>
          <a:xfrm>
            <a:off x="1177044" y="4963145"/>
            <a:ext cx="29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CT-Scan for Benign Case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962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88EC-271F-6648-A284-370E0B1B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BED84-F10B-24B4-F72D-3B17A1F0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Screenshots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9DC01-BCAE-C5F7-DE39-A042E3EF2D40}"/>
              </a:ext>
            </a:extLst>
          </p:cNvPr>
          <p:cNvSpPr txBox="1"/>
          <p:nvPr/>
        </p:nvSpPr>
        <p:spPr>
          <a:xfrm>
            <a:off x="1657773" y="5886873"/>
            <a:ext cx="244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Benign Case Prediction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07EEA-58DC-787E-B8EE-3B81803D384A}"/>
              </a:ext>
            </a:extLst>
          </p:cNvPr>
          <p:cNvSpPr txBox="1"/>
          <p:nvPr/>
        </p:nvSpPr>
        <p:spPr>
          <a:xfrm>
            <a:off x="5225839" y="5886873"/>
            <a:ext cx="273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Malignant Case Prediction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447CE-7CD4-CE1F-A151-5997FA370045}"/>
              </a:ext>
            </a:extLst>
          </p:cNvPr>
          <p:cNvSpPr txBox="1"/>
          <p:nvPr/>
        </p:nvSpPr>
        <p:spPr>
          <a:xfrm>
            <a:off x="8917643" y="5889413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 Case Prediction</a:t>
            </a:r>
            <a:endParaRPr lang="en-IN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0AF920F-D952-154E-7A4B-221793211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40" y="2055178"/>
            <a:ext cx="2992120" cy="3751262"/>
          </a:xfrm>
          <a:prstGeom prst="rect">
            <a:avLst/>
          </a:prstGeom>
        </p:spPr>
      </p:pic>
      <p:pic>
        <p:nvPicPr>
          <p:cNvPr id="13" name="Picture 12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746C5B20-E35A-1EB8-3272-1C7F80611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40" y="2029264"/>
            <a:ext cx="3290000" cy="3777173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934922E-1468-F7BB-9A87-450F31059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116" y="2029263"/>
            <a:ext cx="3343824" cy="37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17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A6D0-FBA7-EA4E-8E09-4C3BE4CB8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5970066" cy="2616199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76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97</TotalTime>
  <Words>1165</Words>
  <Application>Microsoft Office PowerPoint</Application>
  <PresentationFormat>Widescreen</PresentationFormat>
  <Paragraphs>231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Corbel</vt:lpstr>
      <vt:lpstr>Times New Roman</vt:lpstr>
      <vt:lpstr>Parallax</vt:lpstr>
      <vt:lpstr>Lung Cancer Detection System Using CNN  Name : Pawan Kumar K.P USN : 4SO23MC068 4th Semester MCA </vt:lpstr>
      <vt:lpstr>Introduction to the Project</vt:lpstr>
      <vt:lpstr>Introduction to the Project</vt:lpstr>
      <vt:lpstr>Introduction to the Project</vt:lpstr>
      <vt:lpstr>Software Requirement Specification</vt:lpstr>
      <vt:lpstr>Software Requirement Specification</vt:lpstr>
      <vt:lpstr>Software Requirement Specification</vt:lpstr>
      <vt:lpstr>Design Documents</vt:lpstr>
      <vt:lpstr>Design Documents</vt:lpstr>
      <vt:lpstr>Design Documents</vt:lpstr>
      <vt:lpstr>Design Documents</vt:lpstr>
      <vt:lpstr>Design Documents</vt:lpstr>
      <vt:lpstr>Testing </vt:lpstr>
      <vt:lpstr>Testing</vt:lpstr>
      <vt:lpstr>Implementation </vt:lpstr>
      <vt:lpstr>Implementation </vt:lpstr>
      <vt:lpstr>Implementation </vt:lpstr>
      <vt:lpstr>Lung Cancer Detection System Using CNN and Machine Learning Algorithms (Research Paper) </vt:lpstr>
      <vt:lpstr>Lung Cancer Detection System Using CNN and Machine Learning Algorithms (Research Paper) </vt:lpstr>
      <vt:lpstr>Lung Cancer Detection System Using CNN and Machine Learning Algorithms (Research Paper) </vt:lpstr>
      <vt:lpstr>Results &amp; Discussion</vt:lpstr>
      <vt:lpstr>Results &amp; Discussion</vt:lpstr>
      <vt:lpstr>Screenshots</vt:lpstr>
      <vt:lpstr>Screenshots</vt:lpstr>
      <vt:lpstr>Screenshots</vt:lpstr>
      <vt:lpstr>Screenshots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kumar</dc:creator>
  <cp:lastModifiedBy>pawan kumar</cp:lastModifiedBy>
  <cp:revision>2</cp:revision>
  <dcterms:created xsi:type="dcterms:W3CDTF">2025-08-10T16:08:52Z</dcterms:created>
  <dcterms:modified xsi:type="dcterms:W3CDTF">2025-08-10T17:47:00Z</dcterms:modified>
</cp:coreProperties>
</file>