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ink/ink1.xml" ContentType="application/inkml+xml"/>
  <Override PartName="/ppt/ink/ink2.xml" ContentType="application/inkml+xml"/>
  <Override PartName="/ppt/ink/ink3.xml" ContentType="application/inkml+xml"/>
  <Override PartName="/ppt/ink/ink4.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4"/>
  </p:notesMasterIdLst>
  <p:sldIdLst>
    <p:sldId id="268" r:id="rId5"/>
    <p:sldId id="310" r:id="rId6"/>
    <p:sldId id="311" r:id="rId7"/>
    <p:sldId id="314" r:id="rId8"/>
    <p:sldId id="313" r:id="rId9"/>
    <p:sldId id="315" r:id="rId10"/>
    <p:sldId id="316" r:id="rId11"/>
    <p:sldId id="317" r:id="rId12"/>
    <p:sldId id="318" r:id="rId13"/>
    <p:sldId id="319" r:id="rId14"/>
    <p:sldId id="328" r:id="rId15"/>
    <p:sldId id="320" r:id="rId16"/>
    <p:sldId id="321" r:id="rId17"/>
    <p:sldId id="322" r:id="rId18"/>
    <p:sldId id="323" r:id="rId19"/>
    <p:sldId id="324" r:id="rId20"/>
    <p:sldId id="325" r:id="rId21"/>
    <p:sldId id="326" r:id="rId22"/>
    <p:sldId id="32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9EF49C-05EE-494E-A59A-AA1BA1B89B1C}" v="119" dt="2025-08-10T14:56: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19" autoAdjust="0"/>
  </p:normalViewPr>
  <p:slideViewPr>
    <p:cSldViewPr snapToGrid="0">
      <p:cViewPr varScale="1">
        <p:scale>
          <a:sx n="57" d="100"/>
          <a:sy n="57" d="100"/>
        </p:scale>
        <p:origin x="62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0T09:54:27.556"/>
    </inkml:context>
    <inkml:brush xml:id="br0">
      <inkml:brushProperty name="width" value="0.05" units="cm"/>
      <inkml:brushProperty name="height" value="0.05" units="cm"/>
      <inkml:brushProperty name="color" value="#FFFFFF"/>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0T09:55:06.300"/>
    </inkml:context>
    <inkml:brush xml:id="br0">
      <inkml:brushProperty name="width" value="0.05" units="cm"/>
      <inkml:brushProperty name="height" value="0.05" units="cm"/>
      <inkml:brushProperty name="color" value="#FFFFFF"/>
    </inkml:brush>
  </inkml:definitions>
  <inkml:trace contextRef="#ctx0" brushRef="#br0">0 1 24575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0T09:55:06.440"/>
    </inkml:context>
    <inkml:brush xml:id="br0">
      <inkml:brushProperty name="width" value="0.05" units="cm"/>
      <inkml:brushProperty name="height" value="0.05" units="cm"/>
      <inkml:brushProperty name="color" value="#FFFFFF"/>
    </inkml:brush>
  </inkml:definitions>
  <inkml:trace contextRef="#ctx0" brushRef="#br0">0 1 24575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0T09:55:06.655"/>
    </inkml:context>
    <inkml:brush xml:id="br0">
      <inkml:brushProperty name="width" value="0.05" units="cm"/>
      <inkml:brushProperty name="height" value="0.05" units="cm"/>
      <inkml:brushProperty name="color" value="#FFFFFF"/>
    </inkml:brush>
  </inkml:definitions>
  <inkml:trace contextRef="#ctx0" brushRef="#br0">0 1 24575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802E0-2E89-427E-AF85-E3A5A9995C31}" type="datetimeFigureOut">
              <a:rPr lang="en-IN" smtClean="0"/>
              <a:t>10-08-2025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776551-B912-45E7-8C34-7D4DE91C2B7B}" type="slidenum">
              <a:rPr lang="en-IN" smtClean="0"/>
              <a:t>‹#›</a:t>
            </a:fld>
            <a:endParaRPr lang="en-IN"/>
          </a:p>
        </p:txBody>
      </p:sp>
    </p:spTree>
    <p:extLst>
      <p:ext uri="{BB962C8B-B14F-4D97-AF65-F5344CB8AC3E}">
        <p14:creationId xmlns:p14="http://schemas.microsoft.com/office/powerpoint/2010/main" val="1535032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8/10/2025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8/10/2025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8/10/2025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8/10/2025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8/10/2025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8/10/2025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8/10/2025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8/10/2025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8/10/2025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8/10/2025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4010AF38-26DF-48B3-952C-4A9091D6863C}"/>
              </a:ext>
            </a:extLst>
          </p:cNvPr>
          <p:cNvSpPr>
            <a:spLocks noGrp="1"/>
          </p:cNvSpPr>
          <p:nvPr>
            <p:ph type="ctrTitle"/>
          </p:nvPr>
        </p:nvSpPr>
        <p:spPr>
          <a:xfrm>
            <a:off x="648929" y="639098"/>
            <a:ext cx="6253317" cy="2290370"/>
          </a:xfrm>
        </p:spPr>
        <p:txBody>
          <a:bodyPr>
            <a:noAutofit/>
          </a:bodyPr>
          <a:lstStyle/>
          <a:p>
            <a:r>
              <a:rPr lang="en-US" sz="5400" dirty="0"/>
              <a:t>Lung Cancer Detection System Using CNN</a:t>
            </a:r>
          </a:p>
        </p:txBody>
      </p:sp>
      <p:cxnSp>
        <p:nvCxnSpPr>
          <p:cNvPr id="29" name="Straight Connector 28">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308AC96E-AA33-4309-B51D-072F59E6EC0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556686" y="1"/>
            <a:ext cx="4635315" cy="6857999"/>
          </a:xfrm>
          <a:prstGeom prst="rect">
            <a:avLst/>
          </a:prstGeom>
        </p:spPr>
      </p:pic>
      <p:sp>
        <p:nvSpPr>
          <p:cNvPr id="4" name="TextBox 3">
            <a:extLst>
              <a:ext uri="{FF2B5EF4-FFF2-40B4-BE49-F238E27FC236}">
                <a16:creationId xmlns:a16="http://schemas.microsoft.com/office/drawing/2014/main" id="{4B900585-88A4-9472-5FF6-57257410A879}"/>
              </a:ext>
            </a:extLst>
          </p:cNvPr>
          <p:cNvSpPr txBox="1"/>
          <p:nvPr/>
        </p:nvSpPr>
        <p:spPr>
          <a:xfrm>
            <a:off x="2620433" y="3194605"/>
            <a:ext cx="2971800" cy="1015663"/>
          </a:xfrm>
          <a:prstGeom prst="rect">
            <a:avLst/>
          </a:prstGeom>
          <a:noFill/>
        </p:spPr>
        <p:txBody>
          <a:bodyPr wrap="square" rtlCol="0">
            <a:spAutoFit/>
          </a:bodyPr>
          <a:lstStyle/>
          <a:p>
            <a:r>
              <a:rPr lang="en-US" sz="2000" dirty="0"/>
              <a:t>Name : Pawan Kumar K.P</a:t>
            </a:r>
          </a:p>
          <a:p>
            <a:r>
              <a:rPr lang="en-US" sz="2000" dirty="0"/>
              <a:t>USN : 4SO23MC068</a:t>
            </a:r>
          </a:p>
          <a:p>
            <a:r>
              <a:rPr lang="en-US" sz="2000" dirty="0"/>
              <a:t>4</a:t>
            </a:r>
            <a:r>
              <a:rPr lang="en-US" sz="2000" baseline="30000" dirty="0"/>
              <a:t>th</a:t>
            </a:r>
            <a:r>
              <a:rPr lang="en-US" sz="2000" dirty="0"/>
              <a:t> Semester MCA</a:t>
            </a:r>
            <a:endParaRPr lang="en-IN" sz="2000" dirty="0"/>
          </a:p>
        </p:txBody>
      </p:sp>
      <p:sp>
        <p:nvSpPr>
          <p:cNvPr id="8" name="TextBox 7">
            <a:extLst>
              <a:ext uri="{FF2B5EF4-FFF2-40B4-BE49-F238E27FC236}">
                <a16:creationId xmlns:a16="http://schemas.microsoft.com/office/drawing/2014/main" id="{E6945864-81AF-8CC8-C5E7-B85C2B8B6BD9}"/>
              </a:ext>
            </a:extLst>
          </p:cNvPr>
          <p:cNvSpPr txBox="1"/>
          <p:nvPr/>
        </p:nvSpPr>
        <p:spPr>
          <a:xfrm>
            <a:off x="821267" y="4764063"/>
            <a:ext cx="2590800" cy="1477328"/>
          </a:xfrm>
          <a:prstGeom prst="rect">
            <a:avLst/>
          </a:prstGeom>
          <a:noFill/>
        </p:spPr>
        <p:txBody>
          <a:bodyPr wrap="square" rtlCol="0">
            <a:spAutoFit/>
          </a:bodyPr>
          <a:lstStyle/>
          <a:p>
            <a:r>
              <a:rPr lang="en-US" dirty="0"/>
              <a:t>Internal Guide:</a:t>
            </a:r>
          </a:p>
          <a:p>
            <a:r>
              <a:rPr lang="en-US" dirty="0"/>
              <a:t>Ms. Sumangala N</a:t>
            </a:r>
          </a:p>
          <a:p>
            <a:r>
              <a:rPr lang="en-US" dirty="0"/>
              <a:t>Asst Professor </a:t>
            </a:r>
          </a:p>
          <a:p>
            <a:r>
              <a:rPr lang="en-US" dirty="0"/>
              <a:t>Department of Computer Applications</a:t>
            </a:r>
            <a:endParaRPr lang="en-IN" dirty="0"/>
          </a:p>
        </p:txBody>
      </p:sp>
    </p:spTree>
    <p:extLst>
      <p:ext uri="{BB962C8B-B14F-4D97-AF65-F5344CB8AC3E}">
        <p14:creationId xmlns:p14="http://schemas.microsoft.com/office/powerpoint/2010/main" val="3912747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6CB32-901A-4DA0-AA8A-9A7B5A88BFCD}"/>
              </a:ext>
            </a:extLst>
          </p:cNvPr>
          <p:cNvSpPr>
            <a:spLocks noGrp="1"/>
          </p:cNvSpPr>
          <p:nvPr>
            <p:ph type="title"/>
          </p:nvPr>
        </p:nvSpPr>
        <p:spPr>
          <a:xfrm>
            <a:off x="1097280" y="286603"/>
            <a:ext cx="10058400" cy="1450757"/>
          </a:xfrm>
        </p:spPr>
        <p:txBody>
          <a:bodyPr>
            <a:normAutofit/>
          </a:bodyPr>
          <a:lstStyle/>
          <a:p>
            <a:r>
              <a:rPr lang="en-US" dirty="0"/>
              <a:t>Company Profile </a:t>
            </a:r>
          </a:p>
        </p:txBody>
      </p:sp>
      <p:sp>
        <p:nvSpPr>
          <p:cNvPr id="4" name="Content Placeholder 3">
            <a:extLst>
              <a:ext uri="{FF2B5EF4-FFF2-40B4-BE49-F238E27FC236}">
                <a16:creationId xmlns:a16="http://schemas.microsoft.com/office/drawing/2014/main" id="{228EDD52-D3F2-9A99-5679-C2571D83956A}"/>
              </a:ext>
            </a:extLst>
          </p:cNvPr>
          <p:cNvSpPr>
            <a:spLocks noGrp="1"/>
          </p:cNvSpPr>
          <p:nvPr>
            <p:ph idx="1"/>
          </p:nvPr>
        </p:nvSpPr>
        <p:spPr/>
        <p:txBody>
          <a:bodyPr/>
          <a:lstStyle/>
          <a:p>
            <a:pPr algn="just">
              <a:buFont typeface="Wingdings" panose="05000000000000000000" pitchFamily="2" charset="2"/>
              <a:buChar char="Ø"/>
            </a:pPr>
            <a:r>
              <a:rPr lang="en-US" sz="1800" dirty="0"/>
              <a:t>Accolade Tech Solutions Pvt. Ltd. is a well-regarded software and web development company headquartered in Mangalore, India. </a:t>
            </a:r>
          </a:p>
          <a:p>
            <a:pPr algn="just">
              <a:buFont typeface="Wingdings" panose="05000000000000000000" pitchFamily="2" charset="2"/>
              <a:buChar char="Ø"/>
            </a:pPr>
            <a:r>
              <a:rPr lang="en-US" sz="1800" dirty="0"/>
              <a:t>With extensive industry experience, deep technological expertise, and a broad range of services, Accolade Tech Solutions enables clients to enhance their business operations. </a:t>
            </a:r>
          </a:p>
          <a:p>
            <a:pPr algn="just">
              <a:buFont typeface="Wingdings" panose="05000000000000000000" pitchFamily="2" charset="2"/>
              <a:buChar char="Ø"/>
            </a:pPr>
            <a:r>
              <a:rPr lang="en-US" sz="1800" dirty="0"/>
              <a:t>The company offers comprehensive IT consulting services, guiding organizations on effectively leveraging technology to meet their business goals.</a:t>
            </a:r>
            <a:endParaRPr lang="en-IN" sz="1800" dirty="0"/>
          </a:p>
          <a:p>
            <a:endParaRPr lang="en-IN" dirty="0"/>
          </a:p>
        </p:txBody>
      </p:sp>
    </p:spTree>
    <p:extLst>
      <p:ext uri="{BB962C8B-B14F-4D97-AF65-F5344CB8AC3E}">
        <p14:creationId xmlns:p14="http://schemas.microsoft.com/office/powerpoint/2010/main" val="248254681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B0C2D-1751-5972-5992-C29713E0E352}"/>
              </a:ext>
            </a:extLst>
          </p:cNvPr>
          <p:cNvSpPr>
            <a:spLocks noGrp="1"/>
          </p:cNvSpPr>
          <p:nvPr>
            <p:ph type="title"/>
          </p:nvPr>
        </p:nvSpPr>
        <p:spPr/>
        <p:txBody>
          <a:bodyPr/>
          <a:lstStyle/>
          <a:p>
            <a:r>
              <a:rPr lang="en-US" dirty="0"/>
              <a:t>Introduction to the Project</a:t>
            </a:r>
            <a:endParaRPr lang="en-IN" dirty="0"/>
          </a:p>
        </p:txBody>
      </p:sp>
      <p:sp>
        <p:nvSpPr>
          <p:cNvPr id="3" name="Content Placeholder 2">
            <a:extLst>
              <a:ext uri="{FF2B5EF4-FFF2-40B4-BE49-F238E27FC236}">
                <a16:creationId xmlns:a16="http://schemas.microsoft.com/office/drawing/2014/main" id="{8E08C544-8BA5-B7F0-EAED-99AE8FEC39B8}"/>
              </a:ext>
            </a:extLst>
          </p:cNvPr>
          <p:cNvSpPr>
            <a:spLocks noGrp="1"/>
          </p:cNvSpPr>
          <p:nvPr>
            <p:ph idx="1"/>
          </p:nvPr>
        </p:nvSpPr>
        <p:spPr>
          <a:xfrm>
            <a:off x="1097280" y="2108201"/>
            <a:ext cx="10058400" cy="4148666"/>
          </a:xfrm>
        </p:spPr>
        <p:txBody>
          <a:bodyPr>
            <a:normAutofit fontScale="92500"/>
          </a:bodyPr>
          <a:lstStyle/>
          <a:p>
            <a:r>
              <a:rPr lang="en-US" sz="2800" b="1" dirty="0"/>
              <a:t>Abstract</a:t>
            </a:r>
            <a:endParaRPr lang="en-US" sz="2800" dirty="0"/>
          </a:p>
          <a:p>
            <a:pPr algn="just">
              <a:buFont typeface="Wingdings" panose="05000000000000000000" pitchFamily="2" charset="2"/>
              <a:buChar char="Ø"/>
            </a:pPr>
            <a:r>
              <a:rPr lang="en-US" dirty="0"/>
              <a:t>This project presents a deep learning-based Lung Cancer Detection System designed to classify CT-scan images into benign, malignant, or normal categories using Convolutional Neural Networks (CNNs). </a:t>
            </a:r>
          </a:p>
          <a:p>
            <a:pPr algn="just">
              <a:buFont typeface="Wingdings" panose="05000000000000000000" pitchFamily="2" charset="2"/>
              <a:buChar char="Ø"/>
            </a:pPr>
            <a:r>
              <a:rPr lang="en-US" dirty="0"/>
              <a:t>The system addresses limitations in traditional diagnostic methods by providing automated, accurate, and real-time analysis of medical images. Integrated with a web-based interface, it allows patients to upload scans and receive immediate diagnostic feedback, while doctors can access detailed reports and manage patient records.</a:t>
            </a:r>
          </a:p>
          <a:p>
            <a:pPr algn="just">
              <a:buFont typeface="Wingdings" panose="05000000000000000000" pitchFamily="2" charset="2"/>
              <a:buChar char="Ø"/>
            </a:pPr>
            <a:r>
              <a:rPr lang="en-US" dirty="0"/>
              <a:t>The system is built using open-source tools including Flask, TensorFlow, and MySQL, making it cost-effective and scalable. Designed with a focus on usability, data security, and clinical relevance, this solution aims to enhance early cancer detection, streamline medical workflows, and support informed decision-making in healthcare environments.</a:t>
            </a:r>
          </a:p>
          <a:p>
            <a:endParaRPr lang="en-IN" dirty="0"/>
          </a:p>
        </p:txBody>
      </p:sp>
    </p:spTree>
    <p:extLst>
      <p:ext uri="{BB962C8B-B14F-4D97-AF65-F5344CB8AC3E}">
        <p14:creationId xmlns:p14="http://schemas.microsoft.com/office/powerpoint/2010/main" val="222106347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97A89-240A-A6F1-08B5-57EEFC2DEA6D}"/>
              </a:ext>
            </a:extLst>
          </p:cNvPr>
          <p:cNvSpPr txBox="1">
            <a:spLocks/>
          </p:cNvSpPr>
          <p:nvPr/>
        </p:nvSpPr>
        <p:spPr>
          <a:xfrm>
            <a:off x="1348740" y="436378"/>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SRS Details</a:t>
            </a:r>
            <a:endParaRPr lang="en-IN" dirty="0"/>
          </a:p>
        </p:txBody>
      </p:sp>
      <p:cxnSp>
        <p:nvCxnSpPr>
          <p:cNvPr id="3" name="Straight Connector 2">
            <a:extLst>
              <a:ext uri="{FF2B5EF4-FFF2-40B4-BE49-F238E27FC236}">
                <a16:creationId xmlns:a16="http://schemas.microsoft.com/office/drawing/2014/main" id="{3B2C3BA3-796B-A938-0E61-C6B20D9786C9}"/>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D1223267-53C3-1D7C-7996-919E0F77DF53}"/>
              </a:ext>
            </a:extLst>
          </p:cNvPr>
          <p:cNvSpPr txBox="1"/>
          <p:nvPr/>
        </p:nvSpPr>
        <p:spPr>
          <a:xfrm>
            <a:off x="1450340" y="1416559"/>
            <a:ext cx="9855200" cy="4807983"/>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b="1" dirty="0"/>
              <a:t>Objective:</a:t>
            </a:r>
            <a:br>
              <a:rPr lang="en-US" dirty="0"/>
            </a:br>
            <a:r>
              <a:rPr lang="en-US" sz="1400" dirty="0"/>
              <a:t>To develop a machine learning-based web application that classifies lung CT-Scan images into benign, malignant, or normal categories, enabling early and accurate cancer detection with minimal manual intervention.</a:t>
            </a:r>
          </a:p>
          <a:p>
            <a:pPr>
              <a:buNone/>
            </a:pPr>
            <a:endParaRPr lang="en-US" dirty="0"/>
          </a:p>
          <a:p>
            <a:pPr marL="285750" indent="-285750">
              <a:buFont typeface="Wingdings" panose="05000000000000000000" pitchFamily="2" charset="2"/>
              <a:buChar char="v"/>
            </a:pPr>
            <a:r>
              <a:rPr lang="en-US" b="1" dirty="0"/>
              <a:t>Intended Users:</a:t>
            </a:r>
            <a:endParaRPr lang="en-US" dirty="0"/>
          </a:p>
          <a:p>
            <a:pPr marL="285750" indent="-285750">
              <a:lnSpc>
                <a:spcPct val="150000"/>
              </a:lnSpc>
              <a:buFont typeface="Arial" panose="020B0604020202020204" pitchFamily="34" charset="0"/>
              <a:buChar char="•"/>
            </a:pPr>
            <a:r>
              <a:rPr lang="en-US" sz="1400" dirty="0"/>
              <a:t>Patients – Upload scans, receive results.</a:t>
            </a:r>
          </a:p>
          <a:p>
            <a:pPr marL="285750" indent="-285750">
              <a:lnSpc>
                <a:spcPct val="150000"/>
              </a:lnSpc>
              <a:buFont typeface="Arial" panose="020B0604020202020204" pitchFamily="34" charset="0"/>
              <a:buChar char="•"/>
            </a:pPr>
            <a:r>
              <a:rPr lang="en-US" sz="1400" dirty="0"/>
              <a:t>Doctors – View predictions, provide medical notes.</a:t>
            </a:r>
          </a:p>
          <a:p>
            <a:pPr marL="285750" indent="-285750">
              <a:lnSpc>
                <a:spcPct val="150000"/>
              </a:lnSpc>
              <a:buFont typeface="Arial" panose="020B0604020202020204" pitchFamily="34" charset="0"/>
              <a:buChar char="•"/>
            </a:pPr>
            <a:r>
              <a:rPr lang="en-US" sz="1400" dirty="0"/>
              <a:t>Admins – Manage users and oversee operations.</a:t>
            </a:r>
          </a:p>
          <a:p>
            <a:pPr>
              <a:buNone/>
            </a:pPr>
            <a:endParaRPr lang="en-US" b="1" dirty="0"/>
          </a:p>
          <a:p>
            <a:pPr marL="285750" indent="-285750">
              <a:buFont typeface="Wingdings" panose="05000000000000000000" pitchFamily="2" charset="2"/>
              <a:buChar char="v"/>
            </a:pPr>
            <a:r>
              <a:rPr lang="en-US" b="1" dirty="0"/>
              <a:t>Goals:</a:t>
            </a:r>
            <a:endParaRPr lang="en-US" dirty="0"/>
          </a:p>
          <a:p>
            <a:pPr marL="285750" indent="-285750">
              <a:lnSpc>
                <a:spcPct val="150000"/>
              </a:lnSpc>
              <a:buFont typeface="Arial" panose="020B0604020202020204" pitchFamily="34" charset="0"/>
              <a:buChar char="•"/>
            </a:pPr>
            <a:r>
              <a:rPr lang="en-US" sz="1400" dirty="0"/>
              <a:t>Automate cancer detection using CNNs.</a:t>
            </a:r>
          </a:p>
          <a:p>
            <a:pPr marL="285750" indent="-285750">
              <a:lnSpc>
                <a:spcPct val="150000"/>
              </a:lnSpc>
              <a:buFont typeface="Arial" panose="020B0604020202020204" pitchFamily="34" charset="0"/>
              <a:buChar char="•"/>
            </a:pPr>
            <a:r>
              <a:rPr lang="en-US" sz="1400" dirty="0"/>
              <a:t>Reduce diagnostic time and manual errors.</a:t>
            </a:r>
          </a:p>
          <a:p>
            <a:pPr marL="285750" indent="-285750">
              <a:lnSpc>
                <a:spcPct val="150000"/>
              </a:lnSpc>
              <a:buFont typeface="Arial" panose="020B0604020202020204" pitchFamily="34" charset="0"/>
              <a:buChar char="•"/>
            </a:pPr>
            <a:r>
              <a:rPr lang="en-US" sz="1400" dirty="0"/>
              <a:t>Generate downloadable PDF reports.</a:t>
            </a:r>
          </a:p>
          <a:p>
            <a:pPr marL="285750" indent="-285750">
              <a:lnSpc>
                <a:spcPct val="150000"/>
              </a:lnSpc>
              <a:buFont typeface="Arial" panose="020B0604020202020204" pitchFamily="34" charset="0"/>
              <a:buChar char="•"/>
            </a:pPr>
            <a:r>
              <a:rPr lang="en-US" sz="1400" dirty="0"/>
              <a:t>Provide secure, role-based access.</a:t>
            </a:r>
          </a:p>
          <a:p>
            <a:pPr marL="285750" indent="-285750">
              <a:lnSpc>
                <a:spcPct val="150000"/>
              </a:lnSpc>
              <a:buFont typeface="Arial" panose="020B0604020202020204" pitchFamily="34" charset="0"/>
              <a:buChar char="•"/>
            </a:pPr>
            <a:r>
              <a:rPr lang="en-US" sz="1400" dirty="0"/>
              <a:t>Ensure compliance with healthcare data privacy.</a:t>
            </a:r>
          </a:p>
        </p:txBody>
      </p:sp>
    </p:spTree>
    <p:extLst>
      <p:ext uri="{BB962C8B-B14F-4D97-AF65-F5344CB8AC3E}">
        <p14:creationId xmlns:p14="http://schemas.microsoft.com/office/powerpoint/2010/main" val="401432911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497324-B159-4B6C-7A53-07C399769914}"/>
              </a:ext>
            </a:extLst>
          </p:cNvPr>
          <p:cNvSpPr txBox="1"/>
          <p:nvPr/>
        </p:nvSpPr>
        <p:spPr>
          <a:xfrm>
            <a:off x="1348740" y="1520785"/>
            <a:ext cx="8667326" cy="5078313"/>
          </a:xfrm>
          <a:prstGeom prst="rect">
            <a:avLst/>
          </a:prstGeom>
          <a:noFill/>
        </p:spPr>
        <p:txBody>
          <a:bodyPr wrap="square" rtlCol="0">
            <a:spAutoFit/>
          </a:bodyPr>
          <a:lstStyle/>
          <a:p>
            <a:pPr marL="285750" indent="-285750">
              <a:buFont typeface="Wingdings" panose="05000000000000000000" pitchFamily="2" charset="2"/>
              <a:buChar char="v"/>
            </a:pPr>
            <a:r>
              <a:rPr lang="en-IN" b="1" dirty="0"/>
              <a:t>Functional Requirements:</a:t>
            </a:r>
            <a:endParaRPr lang="en-IN" dirty="0"/>
          </a:p>
          <a:p>
            <a:pPr marL="285750" indent="-285750">
              <a:lnSpc>
                <a:spcPct val="150000"/>
              </a:lnSpc>
              <a:buFont typeface="Arial" panose="020B0604020202020204" pitchFamily="34" charset="0"/>
              <a:buChar char="•"/>
            </a:pPr>
            <a:r>
              <a:rPr lang="en-IN" sz="1400" dirty="0"/>
              <a:t>User Module: Registration, login, image upload, prediction view, PDF download.</a:t>
            </a:r>
          </a:p>
          <a:p>
            <a:pPr marL="285750" indent="-285750">
              <a:lnSpc>
                <a:spcPct val="150000"/>
              </a:lnSpc>
              <a:buFont typeface="Arial" panose="020B0604020202020204" pitchFamily="34" charset="0"/>
              <a:buChar char="•"/>
            </a:pPr>
            <a:r>
              <a:rPr lang="en-IN" sz="1400" dirty="0"/>
              <a:t>Doctor Module: View patient history, add recommendations, manage profiles.</a:t>
            </a:r>
          </a:p>
          <a:p>
            <a:pPr marL="285750" indent="-285750">
              <a:lnSpc>
                <a:spcPct val="150000"/>
              </a:lnSpc>
              <a:buFont typeface="Arial" panose="020B0604020202020204" pitchFamily="34" charset="0"/>
              <a:buChar char="•"/>
            </a:pPr>
            <a:r>
              <a:rPr lang="en-IN" sz="1400" dirty="0"/>
              <a:t>Admin Module: Manage user accounts, system monitoring, access control.</a:t>
            </a:r>
          </a:p>
          <a:p>
            <a:pPr marL="285750" indent="-285750">
              <a:lnSpc>
                <a:spcPct val="150000"/>
              </a:lnSpc>
              <a:buFont typeface="Arial" panose="020B0604020202020204" pitchFamily="34" charset="0"/>
              <a:buChar char="•"/>
            </a:pPr>
            <a:r>
              <a:rPr lang="en-IN" sz="1400" dirty="0"/>
              <a:t>Prediction System: Classify images using a trained CNN model.</a:t>
            </a:r>
          </a:p>
          <a:p>
            <a:endParaRPr lang="en-IN" sz="1400" dirty="0"/>
          </a:p>
          <a:p>
            <a:pPr marL="285750" indent="-285750">
              <a:buFont typeface="Wingdings" panose="05000000000000000000" pitchFamily="2" charset="2"/>
              <a:buChar char="v"/>
            </a:pPr>
            <a:r>
              <a:rPr lang="en-IN" b="1" dirty="0"/>
              <a:t>Non-Functional Requirements:</a:t>
            </a:r>
            <a:endParaRPr lang="en-IN" dirty="0"/>
          </a:p>
          <a:p>
            <a:pPr marL="285750" indent="-285750">
              <a:lnSpc>
                <a:spcPct val="150000"/>
              </a:lnSpc>
              <a:buFont typeface="Arial" panose="020B0604020202020204" pitchFamily="34" charset="0"/>
              <a:buChar char="•"/>
            </a:pPr>
            <a:r>
              <a:rPr lang="en-IN" sz="1400" dirty="0"/>
              <a:t>Performance: Fast processing with real-time feedback.</a:t>
            </a:r>
          </a:p>
          <a:p>
            <a:pPr marL="285750" indent="-285750">
              <a:lnSpc>
                <a:spcPct val="150000"/>
              </a:lnSpc>
              <a:buFont typeface="Arial" panose="020B0604020202020204" pitchFamily="34" charset="0"/>
              <a:buChar char="•"/>
            </a:pPr>
            <a:r>
              <a:rPr lang="en-IN" sz="1400" dirty="0"/>
              <a:t>Security: Encrypted storage and SSL-based communication.</a:t>
            </a:r>
          </a:p>
          <a:p>
            <a:pPr marL="285750" indent="-285750">
              <a:lnSpc>
                <a:spcPct val="150000"/>
              </a:lnSpc>
              <a:buFont typeface="Arial" panose="020B0604020202020204" pitchFamily="34" charset="0"/>
              <a:buChar char="•"/>
            </a:pPr>
            <a:r>
              <a:rPr lang="en-IN" sz="1400" dirty="0"/>
              <a:t>Usability: Clean UI, responsive design, minimal training required.</a:t>
            </a:r>
          </a:p>
          <a:p>
            <a:pPr marL="285750" indent="-285750">
              <a:lnSpc>
                <a:spcPct val="150000"/>
              </a:lnSpc>
              <a:buFont typeface="Arial" panose="020B0604020202020204" pitchFamily="34" charset="0"/>
              <a:buChar char="•"/>
            </a:pPr>
            <a:r>
              <a:rPr lang="en-IN" sz="1400" dirty="0"/>
              <a:t>Portability: Compatible with Windows/Linux, major browsers.</a:t>
            </a:r>
          </a:p>
          <a:p>
            <a:pPr marL="285750" indent="-285750">
              <a:lnSpc>
                <a:spcPct val="150000"/>
              </a:lnSpc>
              <a:buFont typeface="Arial" panose="020B0604020202020204" pitchFamily="34" charset="0"/>
              <a:buChar char="•"/>
            </a:pPr>
            <a:r>
              <a:rPr lang="en-IN" sz="1400" dirty="0"/>
              <a:t>Maintainability: Modular codebase using open-source tools (Flask, TensorFlow).</a:t>
            </a:r>
          </a:p>
          <a:p>
            <a:pPr marL="285750" indent="-285750">
              <a:lnSpc>
                <a:spcPct val="150000"/>
              </a:lnSpc>
              <a:buFont typeface="Arial" panose="020B0604020202020204" pitchFamily="34" charset="0"/>
              <a:buChar char="•"/>
            </a:pPr>
            <a:r>
              <a:rPr lang="en-IN" sz="1400" dirty="0"/>
              <a:t>Scalability: Designed to support future integrations and larger datasets.</a:t>
            </a:r>
          </a:p>
          <a:p>
            <a:endParaRPr lang="en-IN" sz="1400" dirty="0"/>
          </a:p>
          <a:p>
            <a:pPr marL="285750" indent="-285750">
              <a:buFont typeface="Wingdings" panose="05000000000000000000" pitchFamily="2" charset="2"/>
              <a:buChar char="v"/>
            </a:pPr>
            <a:r>
              <a:rPr lang="en-IN" b="1" dirty="0"/>
              <a:t>Tech Stack:</a:t>
            </a:r>
            <a:br>
              <a:rPr lang="en-IN" sz="1400" dirty="0"/>
            </a:br>
            <a:r>
              <a:rPr lang="en-IN" sz="1400" dirty="0"/>
              <a:t>Python, Flask, MySQL, TensorFlow, OpenCV, Bootstrap, FPDF</a:t>
            </a:r>
          </a:p>
          <a:p>
            <a:endParaRPr lang="en-IN" dirty="0"/>
          </a:p>
        </p:txBody>
      </p:sp>
      <p:sp>
        <p:nvSpPr>
          <p:cNvPr id="3" name="Title 1">
            <a:extLst>
              <a:ext uri="{FF2B5EF4-FFF2-40B4-BE49-F238E27FC236}">
                <a16:creationId xmlns:a16="http://schemas.microsoft.com/office/drawing/2014/main" id="{DFEFCA51-57E7-59A6-81A5-CC5EE18E36F8}"/>
              </a:ext>
            </a:extLst>
          </p:cNvPr>
          <p:cNvSpPr txBox="1">
            <a:spLocks/>
          </p:cNvSpPr>
          <p:nvPr/>
        </p:nvSpPr>
        <p:spPr>
          <a:xfrm>
            <a:off x="1348740" y="436378"/>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SRS Details</a:t>
            </a:r>
            <a:endParaRPr lang="en-IN" dirty="0"/>
          </a:p>
        </p:txBody>
      </p:sp>
      <p:cxnSp>
        <p:nvCxnSpPr>
          <p:cNvPr id="5" name="Straight Connector 4">
            <a:extLst>
              <a:ext uri="{FF2B5EF4-FFF2-40B4-BE49-F238E27FC236}">
                <a16:creationId xmlns:a16="http://schemas.microsoft.com/office/drawing/2014/main" id="{92B8EBB6-4F71-63C2-BBF9-EF5B7522A98C}"/>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F0343083-699F-F20D-14AF-DEEC20CF3833}"/>
                  </a:ext>
                </a:extLst>
              </p14:cNvPr>
              <p14:cNvContentPartPr/>
              <p14:nvPr/>
            </p14:nvContentPartPr>
            <p14:xfrm>
              <a:off x="6713079" y="4606674"/>
              <a:ext cx="360" cy="360"/>
            </p14:xfrm>
          </p:contentPart>
        </mc:Choice>
        <mc:Fallback xmlns="">
          <p:pic>
            <p:nvPicPr>
              <p:cNvPr id="6" name="Ink 5">
                <a:extLst>
                  <a:ext uri="{FF2B5EF4-FFF2-40B4-BE49-F238E27FC236}">
                    <a16:creationId xmlns:a16="http://schemas.microsoft.com/office/drawing/2014/main" id="{F0343083-699F-F20D-14AF-DEEC20CF3833}"/>
                  </a:ext>
                </a:extLst>
              </p:cNvPr>
              <p:cNvPicPr/>
              <p:nvPr/>
            </p:nvPicPr>
            <p:blipFill>
              <a:blip r:embed="rId3"/>
              <a:stretch>
                <a:fillRect/>
              </a:stretch>
            </p:blipFill>
            <p:spPr>
              <a:xfrm>
                <a:off x="6704079" y="4598034"/>
                <a:ext cx="18000" cy="18000"/>
              </a:xfrm>
              <a:prstGeom prst="rect">
                <a:avLst/>
              </a:prstGeom>
            </p:spPr>
          </p:pic>
        </mc:Fallback>
      </mc:AlternateContent>
      <p:grpSp>
        <p:nvGrpSpPr>
          <p:cNvPr id="12" name="Group 11">
            <a:extLst>
              <a:ext uri="{FF2B5EF4-FFF2-40B4-BE49-F238E27FC236}">
                <a16:creationId xmlns:a16="http://schemas.microsoft.com/office/drawing/2014/main" id="{E8D8316A-F92B-EDB3-0E69-D0D63E3F1BAA}"/>
              </a:ext>
            </a:extLst>
          </p:cNvPr>
          <p:cNvGrpSpPr/>
          <p:nvPr/>
        </p:nvGrpSpPr>
        <p:grpSpPr>
          <a:xfrm>
            <a:off x="1645800" y="2841900"/>
            <a:ext cx="360" cy="360"/>
            <a:chOff x="1645800" y="2841900"/>
            <a:chExt cx="360" cy="360"/>
          </a:xfrm>
        </p:grpSpPr>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5C59AE0A-F8CE-4CB2-AA66-B627D639D1AE}"/>
                    </a:ext>
                  </a:extLst>
                </p14:cNvPr>
                <p14:cNvContentPartPr/>
                <p14:nvPr/>
              </p14:nvContentPartPr>
              <p14:xfrm>
                <a:off x="1645800" y="2841900"/>
                <a:ext cx="360" cy="360"/>
              </p14:xfrm>
            </p:contentPart>
          </mc:Choice>
          <mc:Fallback xmlns="">
            <p:pic>
              <p:nvPicPr>
                <p:cNvPr id="9" name="Ink 8">
                  <a:extLst>
                    <a:ext uri="{FF2B5EF4-FFF2-40B4-BE49-F238E27FC236}">
                      <a16:creationId xmlns:a16="http://schemas.microsoft.com/office/drawing/2014/main" id="{5C59AE0A-F8CE-4CB2-AA66-B627D639D1AE}"/>
                    </a:ext>
                  </a:extLst>
                </p:cNvPr>
                <p:cNvPicPr/>
                <p:nvPr/>
              </p:nvPicPr>
              <p:blipFill>
                <a:blip r:embed="rId3"/>
                <a:stretch>
                  <a:fillRect/>
                </a:stretch>
              </p:blipFill>
              <p:spPr>
                <a:xfrm>
                  <a:off x="1636800" y="28332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4D36596E-B605-7C65-B13D-06B7EA71187A}"/>
                    </a:ext>
                  </a:extLst>
                </p14:cNvPr>
                <p14:cNvContentPartPr/>
                <p14:nvPr/>
              </p14:nvContentPartPr>
              <p14:xfrm>
                <a:off x="1645800" y="2841900"/>
                <a:ext cx="360" cy="360"/>
              </p14:xfrm>
            </p:contentPart>
          </mc:Choice>
          <mc:Fallback xmlns="">
            <p:pic>
              <p:nvPicPr>
                <p:cNvPr id="10" name="Ink 9">
                  <a:extLst>
                    <a:ext uri="{FF2B5EF4-FFF2-40B4-BE49-F238E27FC236}">
                      <a16:creationId xmlns:a16="http://schemas.microsoft.com/office/drawing/2014/main" id="{4D36596E-B605-7C65-B13D-06B7EA71187A}"/>
                    </a:ext>
                  </a:extLst>
                </p:cNvPr>
                <p:cNvPicPr/>
                <p:nvPr/>
              </p:nvPicPr>
              <p:blipFill>
                <a:blip r:embed="rId3"/>
                <a:stretch>
                  <a:fillRect/>
                </a:stretch>
              </p:blipFill>
              <p:spPr>
                <a:xfrm>
                  <a:off x="1636800" y="28332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E909931B-3B6E-683A-F2A7-A4B9D5084C93}"/>
                    </a:ext>
                  </a:extLst>
                </p14:cNvPr>
                <p14:cNvContentPartPr/>
                <p14:nvPr/>
              </p14:nvContentPartPr>
              <p14:xfrm>
                <a:off x="1645800" y="2841900"/>
                <a:ext cx="360" cy="360"/>
              </p14:xfrm>
            </p:contentPart>
          </mc:Choice>
          <mc:Fallback xmlns="">
            <p:pic>
              <p:nvPicPr>
                <p:cNvPr id="11" name="Ink 10">
                  <a:extLst>
                    <a:ext uri="{FF2B5EF4-FFF2-40B4-BE49-F238E27FC236}">
                      <a16:creationId xmlns:a16="http://schemas.microsoft.com/office/drawing/2014/main" id="{E909931B-3B6E-683A-F2A7-A4B9D5084C93}"/>
                    </a:ext>
                  </a:extLst>
                </p:cNvPr>
                <p:cNvPicPr/>
                <p:nvPr/>
              </p:nvPicPr>
              <p:blipFill>
                <a:blip r:embed="rId3"/>
                <a:stretch>
                  <a:fillRect/>
                </a:stretch>
              </p:blipFill>
              <p:spPr>
                <a:xfrm>
                  <a:off x="1636800" y="2833260"/>
                  <a:ext cx="18000" cy="18000"/>
                </a:xfrm>
                <a:prstGeom prst="rect">
                  <a:avLst/>
                </a:prstGeom>
              </p:spPr>
            </p:pic>
          </mc:Fallback>
        </mc:AlternateContent>
      </p:grpSp>
    </p:spTree>
    <p:extLst>
      <p:ext uri="{BB962C8B-B14F-4D97-AF65-F5344CB8AC3E}">
        <p14:creationId xmlns:p14="http://schemas.microsoft.com/office/powerpoint/2010/main" val="36113831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FDD08-8BC9-46A5-4A18-1AD8335450B3}"/>
              </a:ext>
            </a:extLst>
          </p:cNvPr>
          <p:cNvSpPr txBox="1">
            <a:spLocks/>
          </p:cNvSpPr>
          <p:nvPr/>
        </p:nvSpPr>
        <p:spPr>
          <a:xfrm>
            <a:off x="1348740" y="436378"/>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Design Documents</a:t>
            </a:r>
            <a:endParaRPr lang="en-IN" dirty="0"/>
          </a:p>
        </p:txBody>
      </p:sp>
      <p:cxnSp>
        <p:nvCxnSpPr>
          <p:cNvPr id="3" name="Straight Connector 2">
            <a:extLst>
              <a:ext uri="{FF2B5EF4-FFF2-40B4-BE49-F238E27FC236}">
                <a16:creationId xmlns:a16="http://schemas.microsoft.com/office/drawing/2014/main" id="{695B742F-6328-6156-6B04-258BD321887F}"/>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pic>
        <p:nvPicPr>
          <p:cNvPr id="5" name="Picture 4" descr="A diagram of a medical procedure&#10;&#10;AI-generated content may be incorrect.">
            <a:extLst>
              <a:ext uri="{FF2B5EF4-FFF2-40B4-BE49-F238E27FC236}">
                <a16:creationId xmlns:a16="http://schemas.microsoft.com/office/drawing/2014/main" id="{658B79D4-E09B-C1C1-6C97-7FA3134A3322}"/>
              </a:ext>
            </a:extLst>
          </p:cNvPr>
          <p:cNvPicPr>
            <a:picLocks noChangeAspect="1"/>
          </p:cNvPicPr>
          <p:nvPr/>
        </p:nvPicPr>
        <p:blipFill>
          <a:blip r:embed="rId2"/>
          <a:stretch>
            <a:fillRect/>
          </a:stretch>
        </p:blipFill>
        <p:spPr>
          <a:xfrm>
            <a:off x="1348740" y="2918461"/>
            <a:ext cx="5179060" cy="3503160"/>
          </a:xfrm>
          <a:prstGeom prst="rect">
            <a:avLst/>
          </a:prstGeom>
        </p:spPr>
      </p:pic>
      <p:pic>
        <p:nvPicPr>
          <p:cNvPr id="7" name="Picture 6" descr="A diagram of a patient&#10;&#10;AI-generated content may be incorrect.">
            <a:extLst>
              <a:ext uri="{FF2B5EF4-FFF2-40B4-BE49-F238E27FC236}">
                <a16:creationId xmlns:a16="http://schemas.microsoft.com/office/drawing/2014/main" id="{2406B988-9313-288A-082D-5AAF0658A1B7}"/>
              </a:ext>
            </a:extLst>
          </p:cNvPr>
          <p:cNvPicPr>
            <a:picLocks noChangeAspect="1"/>
          </p:cNvPicPr>
          <p:nvPr/>
        </p:nvPicPr>
        <p:blipFill>
          <a:blip r:embed="rId3"/>
          <a:stretch>
            <a:fillRect/>
          </a:stretch>
        </p:blipFill>
        <p:spPr>
          <a:xfrm>
            <a:off x="7155179" y="2918462"/>
            <a:ext cx="4698153" cy="3503160"/>
          </a:xfrm>
          <a:prstGeom prst="rect">
            <a:avLst/>
          </a:prstGeom>
        </p:spPr>
      </p:pic>
      <p:sp>
        <p:nvSpPr>
          <p:cNvPr id="8" name="TextBox 7">
            <a:extLst>
              <a:ext uri="{FF2B5EF4-FFF2-40B4-BE49-F238E27FC236}">
                <a16:creationId xmlns:a16="http://schemas.microsoft.com/office/drawing/2014/main" id="{6125495A-CF06-9D62-542B-F46EFE9C9134}"/>
              </a:ext>
            </a:extLst>
          </p:cNvPr>
          <p:cNvSpPr txBox="1"/>
          <p:nvPr/>
        </p:nvSpPr>
        <p:spPr>
          <a:xfrm>
            <a:off x="661213" y="2549129"/>
            <a:ext cx="3540760" cy="369332"/>
          </a:xfrm>
          <a:prstGeom prst="rect">
            <a:avLst/>
          </a:prstGeom>
          <a:noFill/>
        </p:spPr>
        <p:txBody>
          <a:bodyPr wrap="square" rtlCol="0">
            <a:spAutoFit/>
          </a:bodyPr>
          <a:lstStyle/>
          <a:p>
            <a:pPr algn="ctr"/>
            <a:r>
              <a:rPr lang="en-US" dirty="0"/>
              <a:t>Context Flow Diagram</a:t>
            </a:r>
            <a:endParaRPr lang="en-IN" dirty="0"/>
          </a:p>
        </p:txBody>
      </p:sp>
      <p:sp>
        <p:nvSpPr>
          <p:cNvPr id="9" name="TextBox 8">
            <a:extLst>
              <a:ext uri="{FF2B5EF4-FFF2-40B4-BE49-F238E27FC236}">
                <a16:creationId xmlns:a16="http://schemas.microsoft.com/office/drawing/2014/main" id="{458EEDF9-DEC2-8034-031A-119242289296}"/>
              </a:ext>
            </a:extLst>
          </p:cNvPr>
          <p:cNvSpPr txBox="1"/>
          <p:nvPr/>
        </p:nvSpPr>
        <p:spPr>
          <a:xfrm>
            <a:off x="6096000" y="2549129"/>
            <a:ext cx="3540760" cy="369332"/>
          </a:xfrm>
          <a:prstGeom prst="rect">
            <a:avLst/>
          </a:prstGeom>
          <a:noFill/>
        </p:spPr>
        <p:txBody>
          <a:bodyPr wrap="square" rtlCol="0">
            <a:spAutoFit/>
          </a:bodyPr>
          <a:lstStyle/>
          <a:p>
            <a:pPr algn="ctr"/>
            <a:r>
              <a:rPr lang="en-US" dirty="0"/>
              <a:t>Use Case Diagram</a:t>
            </a:r>
            <a:endParaRPr lang="en-IN" dirty="0"/>
          </a:p>
        </p:txBody>
      </p:sp>
      <p:sp>
        <p:nvSpPr>
          <p:cNvPr id="12" name="TextBox 11">
            <a:extLst>
              <a:ext uri="{FF2B5EF4-FFF2-40B4-BE49-F238E27FC236}">
                <a16:creationId xmlns:a16="http://schemas.microsoft.com/office/drawing/2014/main" id="{C7A9A7E1-2072-1038-DF89-27DA9086D845}"/>
              </a:ext>
            </a:extLst>
          </p:cNvPr>
          <p:cNvSpPr txBox="1"/>
          <p:nvPr/>
        </p:nvSpPr>
        <p:spPr>
          <a:xfrm>
            <a:off x="1348740" y="1326405"/>
            <a:ext cx="9956800" cy="1172180"/>
          </a:xfrm>
          <a:prstGeom prst="rect">
            <a:avLst/>
          </a:prstGeom>
          <a:noFill/>
        </p:spPr>
        <p:txBody>
          <a:bodyPr wrap="square">
            <a:spAutoFit/>
          </a:bodyPr>
          <a:lstStyle/>
          <a:p>
            <a:pPr algn="just">
              <a:lnSpc>
                <a:spcPct val="150000"/>
              </a:lnSpc>
              <a:spcAft>
                <a:spcPts val="800"/>
              </a:spcAft>
              <a:buNone/>
            </a:pPr>
            <a:r>
              <a:rPr lang="en-US" sz="1200" kern="100" dirty="0">
                <a:effectLst/>
                <a:ea typeface="Aptos" panose="020B0004020202020204" pitchFamily="34" charset="0"/>
                <a:cs typeface="Times New Roman" panose="02020603050405020304" pitchFamily="18" charset="0"/>
              </a:rPr>
              <a:t>System design is a crucial stage in software development. It focuses on identifying the necessary modules, defining their functions, and outlining how they interact to deliver the intended outcome. This phase transforms user requirements into specific system features. It covers both the logical framework and the physical structure of the system. The logical design outlines elements like input files, output files, and databases, ensuring they align with project goals. Overall, this process helps clarify the structure and workflows needed to successfully build and implement the system.</a:t>
            </a:r>
            <a:endParaRPr lang="en-IN" sz="12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55395130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E103-4F13-7C6B-D85E-AD9BC3588F23}"/>
              </a:ext>
            </a:extLst>
          </p:cNvPr>
          <p:cNvSpPr txBox="1">
            <a:spLocks/>
          </p:cNvSpPr>
          <p:nvPr/>
        </p:nvSpPr>
        <p:spPr>
          <a:xfrm>
            <a:off x="1348740" y="436378"/>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Design Documents</a:t>
            </a:r>
            <a:endParaRPr lang="en-IN" dirty="0"/>
          </a:p>
        </p:txBody>
      </p:sp>
      <p:cxnSp>
        <p:nvCxnSpPr>
          <p:cNvPr id="3" name="Straight Connector 2">
            <a:extLst>
              <a:ext uri="{FF2B5EF4-FFF2-40B4-BE49-F238E27FC236}">
                <a16:creationId xmlns:a16="http://schemas.microsoft.com/office/drawing/2014/main" id="{229B224B-8C58-5A7C-821F-AC83F26451FA}"/>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pic>
        <p:nvPicPr>
          <p:cNvPr id="5" name="Picture 4" descr="A diagram of a medical procedure&#10;&#10;AI-generated content may be incorrect.">
            <a:extLst>
              <a:ext uri="{FF2B5EF4-FFF2-40B4-BE49-F238E27FC236}">
                <a16:creationId xmlns:a16="http://schemas.microsoft.com/office/drawing/2014/main" id="{2AFB5D95-4F66-CF37-669F-AEC2168CAB39}"/>
              </a:ext>
            </a:extLst>
          </p:cNvPr>
          <p:cNvPicPr>
            <a:picLocks noChangeAspect="1"/>
          </p:cNvPicPr>
          <p:nvPr/>
        </p:nvPicPr>
        <p:blipFill>
          <a:blip r:embed="rId2"/>
          <a:stretch>
            <a:fillRect/>
          </a:stretch>
        </p:blipFill>
        <p:spPr>
          <a:xfrm>
            <a:off x="1450339" y="1920776"/>
            <a:ext cx="4983479" cy="3687541"/>
          </a:xfrm>
          <a:prstGeom prst="rect">
            <a:avLst/>
          </a:prstGeom>
        </p:spPr>
      </p:pic>
      <p:pic>
        <p:nvPicPr>
          <p:cNvPr id="7" name="Picture 6" descr="A diagram of a login&#10;&#10;AI-generated content may be incorrect.">
            <a:extLst>
              <a:ext uri="{FF2B5EF4-FFF2-40B4-BE49-F238E27FC236}">
                <a16:creationId xmlns:a16="http://schemas.microsoft.com/office/drawing/2014/main" id="{23909CCF-04A3-BA21-C459-F4A0BCCA8338}"/>
              </a:ext>
            </a:extLst>
          </p:cNvPr>
          <p:cNvPicPr>
            <a:picLocks noChangeAspect="1"/>
          </p:cNvPicPr>
          <p:nvPr/>
        </p:nvPicPr>
        <p:blipFill>
          <a:blip r:embed="rId3"/>
          <a:stretch>
            <a:fillRect/>
          </a:stretch>
        </p:blipFill>
        <p:spPr>
          <a:xfrm>
            <a:off x="6667500" y="1914309"/>
            <a:ext cx="4983479" cy="3631355"/>
          </a:xfrm>
          <a:prstGeom prst="rect">
            <a:avLst/>
          </a:prstGeom>
        </p:spPr>
      </p:pic>
      <p:sp>
        <p:nvSpPr>
          <p:cNvPr id="10" name="TextBox 9">
            <a:extLst>
              <a:ext uri="{FF2B5EF4-FFF2-40B4-BE49-F238E27FC236}">
                <a16:creationId xmlns:a16="http://schemas.microsoft.com/office/drawing/2014/main" id="{66883689-F1A2-0AA0-E198-B2CB472F9D62}"/>
              </a:ext>
            </a:extLst>
          </p:cNvPr>
          <p:cNvSpPr txBox="1"/>
          <p:nvPr/>
        </p:nvSpPr>
        <p:spPr>
          <a:xfrm>
            <a:off x="1450339" y="1312333"/>
            <a:ext cx="2816860" cy="369332"/>
          </a:xfrm>
          <a:prstGeom prst="rect">
            <a:avLst/>
          </a:prstGeom>
          <a:noFill/>
        </p:spPr>
        <p:txBody>
          <a:bodyPr wrap="square" rtlCol="0">
            <a:spAutoFit/>
          </a:bodyPr>
          <a:lstStyle/>
          <a:p>
            <a:r>
              <a:rPr lang="en-US" dirty="0"/>
              <a:t>Admin DFD</a:t>
            </a:r>
            <a:endParaRPr lang="en-IN" dirty="0"/>
          </a:p>
        </p:txBody>
      </p:sp>
      <p:sp>
        <p:nvSpPr>
          <p:cNvPr id="13" name="TextBox 12">
            <a:extLst>
              <a:ext uri="{FF2B5EF4-FFF2-40B4-BE49-F238E27FC236}">
                <a16:creationId xmlns:a16="http://schemas.microsoft.com/office/drawing/2014/main" id="{64A9EA33-C58F-51B7-9805-84E94698BCDD}"/>
              </a:ext>
            </a:extLst>
          </p:cNvPr>
          <p:cNvSpPr txBox="1"/>
          <p:nvPr/>
        </p:nvSpPr>
        <p:spPr>
          <a:xfrm>
            <a:off x="6667500" y="1312333"/>
            <a:ext cx="2816860" cy="369332"/>
          </a:xfrm>
          <a:prstGeom prst="rect">
            <a:avLst/>
          </a:prstGeom>
          <a:noFill/>
        </p:spPr>
        <p:txBody>
          <a:bodyPr wrap="square" rtlCol="0">
            <a:spAutoFit/>
          </a:bodyPr>
          <a:lstStyle/>
          <a:p>
            <a:r>
              <a:rPr lang="en-US" dirty="0"/>
              <a:t>Doctor DFD</a:t>
            </a:r>
            <a:endParaRPr lang="en-IN" dirty="0"/>
          </a:p>
        </p:txBody>
      </p:sp>
    </p:spTree>
    <p:extLst>
      <p:ext uri="{BB962C8B-B14F-4D97-AF65-F5344CB8AC3E}">
        <p14:creationId xmlns:p14="http://schemas.microsoft.com/office/powerpoint/2010/main" val="324570227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EE2814E4-E460-A0C7-39A7-D4A4120E2ECD}"/>
              </a:ext>
            </a:extLst>
          </p:cNvPr>
          <p:cNvSpPr txBox="1"/>
          <p:nvPr/>
        </p:nvSpPr>
        <p:spPr>
          <a:xfrm>
            <a:off x="1450340" y="1461744"/>
            <a:ext cx="2816860" cy="369332"/>
          </a:xfrm>
          <a:prstGeom prst="rect">
            <a:avLst/>
          </a:prstGeom>
          <a:noFill/>
        </p:spPr>
        <p:txBody>
          <a:bodyPr wrap="square" rtlCol="0">
            <a:spAutoFit/>
          </a:bodyPr>
          <a:lstStyle/>
          <a:p>
            <a:r>
              <a:rPr lang="en-US" dirty="0"/>
              <a:t>Patient DFD</a:t>
            </a:r>
            <a:endParaRPr lang="en-IN" dirty="0"/>
          </a:p>
        </p:txBody>
      </p:sp>
      <p:sp>
        <p:nvSpPr>
          <p:cNvPr id="2" name="Title 1">
            <a:extLst>
              <a:ext uri="{FF2B5EF4-FFF2-40B4-BE49-F238E27FC236}">
                <a16:creationId xmlns:a16="http://schemas.microsoft.com/office/drawing/2014/main" id="{D59B35C4-8B76-6D4B-9C76-A4BB2B9D1B42}"/>
              </a:ext>
            </a:extLst>
          </p:cNvPr>
          <p:cNvSpPr txBox="1">
            <a:spLocks/>
          </p:cNvSpPr>
          <p:nvPr/>
        </p:nvSpPr>
        <p:spPr>
          <a:xfrm>
            <a:off x="1348740" y="436378"/>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Design Documents</a:t>
            </a:r>
            <a:endParaRPr lang="en-IN" dirty="0"/>
          </a:p>
        </p:txBody>
      </p:sp>
      <p:cxnSp>
        <p:nvCxnSpPr>
          <p:cNvPr id="3" name="Straight Connector 2">
            <a:extLst>
              <a:ext uri="{FF2B5EF4-FFF2-40B4-BE49-F238E27FC236}">
                <a16:creationId xmlns:a16="http://schemas.microsoft.com/office/drawing/2014/main" id="{E40B9F27-FC8C-0980-332D-ADF678BCC87A}"/>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pic>
        <p:nvPicPr>
          <p:cNvPr id="4" name="Picture 3" descr="A diagram of a diagram&#10;&#10;AI-generated content may be incorrect.">
            <a:extLst>
              <a:ext uri="{FF2B5EF4-FFF2-40B4-BE49-F238E27FC236}">
                <a16:creationId xmlns:a16="http://schemas.microsoft.com/office/drawing/2014/main" id="{16420B17-9140-880F-B7C2-FA94372E59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763" y="1831076"/>
            <a:ext cx="5571437" cy="4510458"/>
          </a:xfrm>
          <a:prstGeom prst="rect">
            <a:avLst/>
          </a:prstGeom>
        </p:spPr>
      </p:pic>
      <p:pic>
        <p:nvPicPr>
          <p:cNvPr id="5" name="Picture 4" descr="A diagram of a computer program&#10;&#10;AI-generated content may be incorrect.">
            <a:extLst>
              <a:ext uri="{FF2B5EF4-FFF2-40B4-BE49-F238E27FC236}">
                <a16:creationId xmlns:a16="http://schemas.microsoft.com/office/drawing/2014/main" id="{CDF48A07-4BC9-933E-2CDE-11AD2F3098B5}"/>
              </a:ext>
            </a:extLst>
          </p:cNvPr>
          <p:cNvPicPr>
            <a:picLocks noChangeAspect="1"/>
          </p:cNvPicPr>
          <p:nvPr/>
        </p:nvPicPr>
        <p:blipFill>
          <a:blip r:embed="rId3"/>
          <a:stretch>
            <a:fillRect/>
          </a:stretch>
        </p:blipFill>
        <p:spPr>
          <a:xfrm>
            <a:off x="6273802" y="1831076"/>
            <a:ext cx="5455920" cy="4510458"/>
          </a:xfrm>
          <a:prstGeom prst="rect">
            <a:avLst/>
          </a:prstGeom>
        </p:spPr>
      </p:pic>
      <p:sp>
        <p:nvSpPr>
          <p:cNvPr id="6" name="TextBox 5">
            <a:extLst>
              <a:ext uri="{FF2B5EF4-FFF2-40B4-BE49-F238E27FC236}">
                <a16:creationId xmlns:a16="http://schemas.microsoft.com/office/drawing/2014/main" id="{6964B0BB-9A8E-13E4-F622-311DFDF758FE}"/>
              </a:ext>
            </a:extLst>
          </p:cNvPr>
          <p:cNvSpPr txBox="1"/>
          <p:nvPr/>
        </p:nvSpPr>
        <p:spPr>
          <a:xfrm>
            <a:off x="6184902" y="1416559"/>
            <a:ext cx="2816860" cy="369332"/>
          </a:xfrm>
          <a:prstGeom prst="rect">
            <a:avLst/>
          </a:prstGeom>
          <a:noFill/>
        </p:spPr>
        <p:txBody>
          <a:bodyPr wrap="square" rtlCol="0">
            <a:spAutoFit/>
          </a:bodyPr>
          <a:lstStyle/>
          <a:p>
            <a:r>
              <a:rPr lang="en-US" dirty="0"/>
              <a:t>Patient Sequence Diagram</a:t>
            </a:r>
            <a:endParaRPr lang="en-IN" dirty="0"/>
          </a:p>
        </p:txBody>
      </p:sp>
    </p:spTree>
    <p:extLst>
      <p:ext uri="{BB962C8B-B14F-4D97-AF65-F5344CB8AC3E}">
        <p14:creationId xmlns:p14="http://schemas.microsoft.com/office/powerpoint/2010/main" val="102797788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02118-D797-C7B8-D82E-6B5C8A39682A}"/>
              </a:ext>
            </a:extLst>
          </p:cNvPr>
          <p:cNvSpPr txBox="1">
            <a:spLocks/>
          </p:cNvSpPr>
          <p:nvPr/>
        </p:nvSpPr>
        <p:spPr>
          <a:xfrm>
            <a:off x="1348740" y="436378"/>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Design Documents</a:t>
            </a:r>
            <a:endParaRPr lang="en-IN" dirty="0"/>
          </a:p>
        </p:txBody>
      </p:sp>
      <p:cxnSp>
        <p:nvCxnSpPr>
          <p:cNvPr id="3" name="Straight Connector 2">
            <a:extLst>
              <a:ext uri="{FF2B5EF4-FFF2-40B4-BE49-F238E27FC236}">
                <a16:creationId xmlns:a16="http://schemas.microsoft.com/office/drawing/2014/main" id="{E95048C6-1038-7A6E-FC07-BCB54180B773}"/>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FCD82AB1-B7EE-27DA-1DD6-B729CED5268F}"/>
              </a:ext>
            </a:extLst>
          </p:cNvPr>
          <p:cNvSpPr txBox="1"/>
          <p:nvPr/>
        </p:nvSpPr>
        <p:spPr>
          <a:xfrm>
            <a:off x="1450340" y="1416559"/>
            <a:ext cx="3075940" cy="369332"/>
          </a:xfrm>
          <a:prstGeom prst="rect">
            <a:avLst/>
          </a:prstGeom>
          <a:noFill/>
        </p:spPr>
        <p:txBody>
          <a:bodyPr wrap="square" rtlCol="0">
            <a:spAutoFit/>
          </a:bodyPr>
          <a:lstStyle/>
          <a:p>
            <a:r>
              <a:rPr lang="en-US" dirty="0"/>
              <a:t>Admin Sequence diagram</a:t>
            </a:r>
            <a:endParaRPr lang="en-IN" dirty="0"/>
          </a:p>
        </p:txBody>
      </p:sp>
      <p:sp>
        <p:nvSpPr>
          <p:cNvPr id="5" name="TextBox 4">
            <a:extLst>
              <a:ext uri="{FF2B5EF4-FFF2-40B4-BE49-F238E27FC236}">
                <a16:creationId xmlns:a16="http://schemas.microsoft.com/office/drawing/2014/main" id="{E365EA16-956B-D4CF-9396-C15CEB624A55}"/>
              </a:ext>
            </a:extLst>
          </p:cNvPr>
          <p:cNvSpPr txBox="1"/>
          <p:nvPr/>
        </p:nvSpPr>
        <p:spPr>
          <a:xfrm>
            <a:off x="6377940" y="1416559"/>
            <a:ext cx="3075940" cy="369332"/>
          </a:xfrm>
          <a:prstGeom prst="rect">
            <a:avLst/>
          </a:prstGeom>
          <a:noFill/>
        </p:spPr>
        <p:txBody>
          <a:bodyPr wrap="square" rtlCol="0">
            <a:spAutoFit/>
          </a:bodyPr>
          <a:lstStyle/>
          <a:p>
            <a:r>
              <a:rPr lang="en-US" dirty="0"/>
              <a:t>Doctor Sequence diagram</a:t>
            </a:r>
            <a:endParaRPr lang="en-IN" dirty="0"/>
          </a:p>
        </p:txBody>
      </p:sp>
      <p:pic>
        <p:nvPicPr>
          <p:cNvPr id="7" name="Picture 6" descr="A diagram of a data flow&#10;&#10;AI-generated content may be incorrect.">
            <a:extLst>
              <a:ext uri="{FF2B5EF4-FFF2-40B4-BE49-F238E27FC236}">
                <a16:creationId xmlns:a16="http://schemas.microsoft.com/office/drawing/2014/main" id="{C9C6EC87-79D0-71DD-6B3C-267D9C4EBCFB}"/>
              </a:ext>
            </a:extLst>
          </p:cNvPr>
          <p:cNvPicPr>
            <a:picLocks noChangeAspect="1"/>
          </p:cNvPicPr>
          <p:nvPr/>
        </p:nvPicPr>
        <p:blipFill>
          <a:blip r:embed="rId2"/>
          <a:stretch>
            <a:fillRect/>
          </a:stretch>
        </p:blipFill>
        <p:spPr>
          <a:xfrm>
            <a:off x="1519237" y="1890117"/>
            <a:ext cx="4779963" cy="4468349"/>
          </a:xfrm>
          <a:prstGeom prst="rect">
            <a:avLst/>
          </a:prstGeom>
        </p:spPr>
      </p:pic>
      <p:pic>
        <p:nvPicPr>
          <p:cNvPr id="9" name="Picture 8" descr="A diagram of a data flow&#10;&#10;AI-generated content may be incorrect.">
            <a:extLst>
              <a:ext uri="{FF2B5EF4-FFF2-40B4-BE49-F238E27FC236}">
                <a16:creationId xmlns:a16="http://schemas.microsoft.com/office/drawing/2014/main" id="{BDF90363-F7D5-3D38-89AC-C4A161B4F5B7}"/>
              </a:ext>
            </a:extLst>
          </p:cNvPr>
          <p:cNvPicPr>
            <a:picLocks noChangeAspect="1"/>
          </p:cNvPicPr>
          <p:nvPr/>
        </p:nvPicPr>
        <p:blipFill>
          <a:blip r:embed="rId3"/>
          <a:stretch>
            <a:fillRect/>
          </a:stretch>
        </p:blipFill>
        <p:spPr>
          <a:xfrm>
            <a:off x="6383868" y="1890116"/>
            <a:ext cx="5398028" cy="4468352"/>
          </a:xfrm>
          <a:prstGeom prst="rect">
            <a:avLst/>
          </a:prstGeom>
        </p:spPr>
      </p:pic>
    </p:spTree>
    <p:extLst>
      <p:ext uri="{BB962C8B-B14F-4D97-AF65-F5344CB8AC3E}">
        <p14:creationId xmlns:p14="http://schemas.microsoft.com/office/powerpoint/2010/main" val="197607925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7001A-48E3-69F1-616F-FA756E587429}"/>
              </a:ext>
            </a:extLst>
          </p:cNvPr>
          <p:cNvSpPr txBox="1">
            <a:spLocks/>
          </p:cNvSpPr>
          <p:nvPr/>
        </p:nvSpPr>
        <p:spPr>
          <a:xfrm>
            <a:off x="1348740" y="436378"/>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Design Documents</a:t>
            </a:r>
            <a:endParaRPr lang="en-IN" dirty="0"/>
          </a:p>
        </p:txBody>
      </p:sp>
      <p:cxnSp>
        <p:nvCxnSpPr>
          <p:cNvPr id="3" name="Straight Connector 2">
            <a:extLst>
              <a:ext uri="{FF2B5EF4-FFF2-40B4-BE49-F238E27FC236}">
                <a16:creationId xmlns:a16="http://schemas.microsoft.com/office/drawing/2014/main" id="{235030F8-E731-059D-0346-B20774673B43}"/>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CFF6DA5E-D318-B5AF-F6FB-624A9C2F05DE}"/>
              </a:ext>
            </a:extLst>
          </p:cNvPr>
          <p:cNvSpPr txBox="1"/>
          <p:nvPr/>
        </p:nvSpPr>
        <p:spPr>
          <a:xfrm>
            <a:off x="1450340" y="1416559"/>
            <a:ext cx="3075940" cy="369332"/>
          </a:xfrm>
          <a:prstGeom prst="rect">
            <a:avLst/>
          </a:prstGeom>
          <a:noFill/>
        </p:spPr>
        <p:txBody>
          <a:bodyPr wrap="square" rtlCol="0">
            <a:spAutoFit/>
          </a:bodyPr>
          <a:lstStyle/>
          <a:p>
            <a:r>
              <a:rPr lang="en-US" dirty="0"/>
              <a:t>Admin activity diagram</a:t>
            </a:r>
            <a:endParaRPr lang="en-IN" dirty="0"/>
          </a:p>
        </p:txBody>
      </p:sp>
      <p:sp>
        <p:nvSpPr>
          <p:cNvPr id="7" name="TextBox 6">
            <a:extLst>
              <a:ext uri="{FF2B5EF4-FFF2-40B4-BE49-F238E27FC236}">
                <a16:creationId xmlns:a16="http://schemas.microsoft.com/office/drawing/2014/main" id="{DD457B9C-A519-22E7-FD0B-3DEF7D2B0BC7}"/>
              </a:ext>
            </a:extLst>
          </p:cNvPr>
          <p:cNvSpPr txBox="1"/>
          <p:nvPr/>
        </p:nvSpPr>
        <p:spPr>
          <a:xfrm>
            <a:off x="6377940" y="1416559"/>
            <a:ext cx="3075940" cy="369332"/>
          </a:xfrm>
          <a:prstGeom prst="rect">
            <a:avLst/>
          </a:prstGeom>
          <a:noFill/>
        </p:spPr>
        <p:txBody>
          <a:bodyPr wrap="square" rtlCol="0">
            <a:spAutoFit/>
          </a:bodyPr>
          <a:lstStyle/>
          <a:p>
            <a:r>
              <a:rPr lang="en-US" dirty="0"/>
              <a:t>Doctor activity diagram</a:t>
            </a:r>
            <a:endParaRPr lang="en-IN" dirty="0"/>
          </a:p>
        </p:txBody>
      </p:sp>
      <p:pic>
        <p:nvPicPr>
          <p:cNvPr id="9" name="Picture 8" descr="A diagram of a software system&#10;&#10;AI-generated content may be incorrect.">
            <a:extLst>
              <a:ext uri="{FF2B5EF4-FFF2-40B4-BE49-F238E27FC236}">
                <a16:creationId xmlns:a16="http://schemas.microsoft.com/office/drawing/2014/main" id="{06E8217B-C4B2-C6EB-7C6C-EED24093CE6B}"/>
              </a:ext>
            </a:extLst>
          </p:cNvPr>
          <p:cNvPicPr>
            <a:picLocks noChangeAspect="1"/>
          </p:cNvPicPr>
          <p:nvPr/>
        </p:nvPicPr>
        <p:blipFill>
          <a:blip r:embed="rId2"/>
          <a:stretch>
            <a:fillRect/>
          </a:stretch>
        </p:blipFill>
        <p:spPr>
          <a:xfrm>
            <a:off x="1450340" y="1890115"/>
            <a:ext cx="4363720" cy="4468348"/>
          </a:xfrm>
          <a:prstGeom prst="rect">
            <a:avLst/>
          </a:prstGeom>
        </p:spPr>
      </p:pic>
      <p:pic>
        <p:nvPicPr>
          <p:cNvPr id="11" name="Picture 10" descr="A diagram of a computer program&#10;&#10;AI-generated content may be incorrect.">
            <a:extLst>
              <a:ext uri="{FF2B5EF4-FFF2-40B4-BE49-F238E27FC236}">
                <a16:creationId xmlns:a16="http://schemas.microsoft.com/office/drawing/2014/main" id="{64B8D700-BBC9-DE2B-6795-3A4EDAE0E390}"/>
              </a:ext>
            </a:extLst>
          </p:cNvPr>
          <p:cNvPicPr>
            <a:picLocks noChangeAspect="1"/>
          </p:cNvPicPr>
          <p:nvPr/>
        </p:nvPicPr>
        <p:blipFill>
          <a:blip r:embed="rId3"/>
          <a:stretch>
            <a:fillRect/>
          </a:stretch>
        </p:blipFill>
        <p:spPr>
          <a:xfrm>
            <a:off x="6377941" y="1890116"/>
            <a:ext cx="4552526" cy="4468346"/>
          </a:xfrm>
          <a:prstGeom prst="rect">
            <a:avLst/>
          </a:prstGeom>
        </p:spPr>
      </p:pic>
    </p:spTree>
    <p:extLst>
      <p:ext uri="{BB962C8B-B14F-4D97-AF65-F5344CB8AC3E}">
        <p14:creationId xmlns:p14="http://schemas.microsoft.com/office/powerpoint/2010/main" val="127604094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7C4FB-8746-03FD-3542-2F846F2B0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8C2F03-25D6-7ED5-CE76-316E91A6D1FB}"/>
              </a:ext>
            </a:extLst>
          </p:cNvPr>
          <p:cNvSpPr txBox="1">
            <a:spLocks/>
          </p:cNvSpPr>
          <p:nvPr/>
        </p:nvSpPr>
        <p:spPr>
          <a:xfrm>
            <a:off x="1348740" y="436378"/>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Design Documents</a:t>
            </a:r>
            <a:endParaRPr lang="en-IN" dirty="0"/>
          </a:p>
        </p:txBody>
      </p:sp>
      <p:cxnSp>
        <p:nvCxnSpPr>
          <p:cNvPr id="3" name="Straight Connector 2">
            <a:extLst>
              <a:ext uri="{FF2B5EF4-FFF2-40B4-BE49-F238E27FC236}">
                <a16:creationId xmlns:a16="http://schemas.microsoft.com/office/drawing/2014/main" id="{9D739DEC-EF92-EFB2-B670-0CF44DD4FCD5}"/>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5E7E48DB-5B9A-81DD-A3BC-0DF5AC11814D}"/>
              </a:ext>
            </a:extLst>
          </p:cNvPr>
          <p:cNvSpPr txBox="1"/>
          <p:nvPr/>
        </p:nvSpPr>
        <p:spPr>
          <a:xfrm>
            <a:off x="1450340" y="1416559"/>
            <a:ext cx="3075940" cy="369332"/>
          </a:xfrm>
          <a:prstGeom prst="rect">
            <a:avLst/>
          </a:prstGeom>
          <a:noFill/>
        </p:spPr>
        <p:txBody>
          <a:bodyPr wrap="square" rtlCol="0">
            <a:spAutoFit/>
          </a:bodyPr>
          <a:lstStyle/>
          <a:p>
            <a:r>
              <a:rPr lang="en-US" dirty="0"/>
              <a:t>Patient activity diagram</a:t>
            </a:r>
            <a:endParaRPr lang="en-IN" dirty="0"/>
          </a:p>
        </p:txBody>
      </p:sp>
      <p:pic>
        <p:nvPicPr>
          <p:cNvPr id="7" name="Picture 6" descr="A diagram of a diagram&#10;&#10;AI-generated content may be incorrect.">
            <a:extLst>
              <a:ext uri="{FF2B5EF4-FFF2-40B4-BE49-F238E27FC236}">
                <a16:creationId xmlns:a16="http://schemas.microsoft.com/office/drawing/2014/main" id="{18A2E910-9177-BE0D-16C7-CB9882542295}"/>
              </a:ext>
            </a:extLst>
          </p:cNvPr>
          <p:cNvPicPr>
            <a:picLocks noChangeAspect="1"/>
          </p:cNvPicPr>
          <p:nvPr/>
        </p:nvPicPr>
        <p:blipFill>
          <a:blip r:embed="rId2"/>
          <a:stretch>
            <a:fillRect/>
          </a:stretch>
        </p:blipFill>
        <p:spPr>
          <a:xfrm>
            <a:off x="2988310" y="1785891"/>
            <a:ext cx="5977890" cy="4572573"/>
          </a:xfrm>
          <a:prstGeom prst="rect">
            <a:avLst/>
          </a:prstGeom>
        </p:spPr>
      </p:pic>
    </p:spTree>
    <p:extLst>
      <p:ext uri="{BB962C8B-B14F-4D97-AF65-F5344CB8AC3E}">
        <p14:creationId xmlns:p14="http://schemas.microsoft.com/office/powerpoint/2010/main" val="400926728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34A7B-CD2A-084C-4D80-1A91D658878F}"/>
              </a:ext>
            </a:extLst>
          </p:cNvPr>
          <p:cNvSpPr txBox="1">
            <a:spLocks/>
          </p:cNvSpPr>
          <p:nvPr/>
        </p:nvSpPr>
        <p:spPr>
          <a:xfrm>
            <a:off x="1412240" y="488490"/>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Design Documents</a:t>
            </a:r>
            <a:endParaRPr lang="en-IN" dirty="0"/>
          </a:p>
        </p:txBody>
      </p:sp>
      <p:cxnSp>
        <p:nvCxnSpPr>
          <p:cNvPr id="3" name="Straight Connector 2">
            <a:extLst>
              <a:ext uri="{FF2B5EF4-FFF2-40B4-BE49-F238E27FC236}">
                <a16:creationId xmlns:a16="http://schemas.microsoft.com/office/drawing/2014/main" id="{0597AB75-306C-221B-FFC4-BC6ADD8DB83C}"/>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DE0AA8AB-5940-B025-9F4E-0353E646D157}"/>
              </a:ext>
            </a:extLst>
          </p:cNvPr>
          <p:cNvSpPr txBox="1"/>
          <p:nvPr/>
        </p:nvSpPr>
        <p:spPr>
          <a:xfrm>
            <a:off x="1450340" y="1416559"/>
            <a:ext cx="3075940" cy="369332"/>
          </a:xfrm>
          <a:prstGeom prst="rect">
            <a:avLst/>
          </a:prstGeom>
          <a:noFill/>
        </p:spPr>
        <p:txBody>
          <a:bodyPr wrap="square" rtlCol="0">
            <a:spAutoFit/>
          </a:bodyPr>
          <a:lstStyle/>
          <a:p>
            <a:r>
              <a:rPr lang="en-US" dirty="0"/>
              <a:t>ER - diagram</a:t>
            </a:r>
            <a:endParaRPr lang="en-IN" dirty="0"/>
          </a:p>
        </p:txBody>
      </p:sp>
      <p:pic>
        <p:nvPicPr>
          <p:cNvPr id="6" name="Picture 5" descr="A diagram of a computer&#10;&#10;AI-generated content may be incorrect.">
            <a:extLst>
              <a:ext uri="{FF2B5EF4-FFF2-40B4-BE49-F238E27FC236}">
                <a16:creationId xmlns:a16="http://schemas.microsoft.com/office/drawing/2014/main" id="{AD48889A-387B-03BF-880C-16ED89B35229}"/>
              </a:ext>
            </a:extLst>
          </p:cNvPr>
          <p:cNvPicPr>
            <a:picLocks noChangeAspect="1"/>
          </p:cNvPicPr>
          <p:nvPr/>
        </p:nvPicPr>
        <p:blipFill>
          <a:blip r:embed="rId2"/>
          <a:stretch>
            <a:fillRect/>
          </a:stretch>
        </p:blipFill>
        <p:spPr>
          <a:xfrm>
            <a:off x="1450340" y="1890117"/>
            <a:ext cx="9187180" cy="4479394"/>
          </a:xfrm>
          <a:prstGeom prst="rect">
            <a:avLst/>
          </a:prstGeom>
        </p:spPr>
      </p:pic>
    </p:spTree>
    <p:extLst>
      <p:ext uri="{BB962C8B-B14F-4D97-AF65-F5344CB8AC3E}">
        <p14:creationId xmlns:p14="http://schemas.microsoft.com/office/powerpoint/2010/main" val="4218765883"/>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63C7515-9A81-4B0B-CBD5-625EF18C522D}"/>
              </a:ext>
            </a:extLst>
          </p:cNvPr>
          <p:cNvSpPr txBox="1">
            <a:spLocks/>
          </p:cNvSpPr>
          <p:nvPr/>
        </p:nvSpPr>
        <p:spPr>
          <a:xfrm>
            <a:off x="1412240" y="488490"/>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sz="4000" dirty="0"/>
              <a:t>Testing and Implementation</a:t>
            </a:r>
            <a:endParaRPr lang="en-IN" sz="4000" dirty="0"/>
          </a:p>
        </p:txBody>
      </p:sp>
      <p:cxnSp>
        <p:nvCxnSpPr>
          <p:cNvPr id="4" name="Straight Connector 3">
            <a:extLst>
              <a:ext uri="{FF2B5EF4-FFF2-40B4-BE49-F238E27FC236}">
                <a16:creationId xmlns:a16="http://schemas.microsoft.com/office/drawing/2014/main" id="{892B00C4-BC04-369B-F93D-C77C9EF08F01}"/>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D4DFA65D-364A-DA6A-E829-3D0731AD36F5}"/>
              </a:ext>
            </a:extLst>
          </p:cNvPr>
          <p:cNvSpPr txBox="1"/>
          <p:nvPr/>
        </p:nvSpPr>
        <p:spPr>
          <a:xfrm>
            <a:off x="1412240" y="1502956"/>
            <a:ext cx="9893300" cy="646331"/>
          </a:xfrm>
          <a:prstGeom prst="rect">
            <a:avLst/>
          </a:prstGeom>
          <a:noFill/>
        </p:spPr>
        <p:txBody>
          <a:bodyPr wrap="square">
            <a:spAutoFit/>
          </a:bodyPr>
          <a:lstStyle/>
          <a:p>
            <a:r>
              <a:rPr lang="en-US" sz="1800" dirty="0">
                <a:effectLst/>
                <a:latin typeface="Times New Roman" panose="02020603050405020304" pitchFamily="18" charset="0"/>
                <a:ea typeface="Aptos" panose="020B0004020202020204" pitchFamily="34" charset="0"/>
              </a:rPr>
              <a:t>Testing is a crucial procedure used to guarantee the accuracy, comprehensiveness, and caliber of software. By locating and fixing software bugs, it contributes significantly to a system's success. </a:t>
            </a:r>
            <a:endParaRPr lang="en-IN" dirty="0"/>
          </a:p>
        </p:txBody>
      </p:sp>
      <p:sp>
        <p:nvSpPr>
          <p:cNvPr id="7" name="Rectangle 2">
            <a:extLst>
              <a:ext uri="{FF2B5EF4-FFF2-40B4-BE49-F238E27FC236}">
                <a16:creationId xmlns:a16="http://schemas.microsoft.com/office/drawing/2014/main" id="{4B2A0FD4-B479-C6BA-CE36-3D447F260AB9}"/>
              </a:ext>
            </a:extLst>
          </p:cNvPr>
          <p:cNvSpPr>
            <a:spLocks noChangeArrowheads="1"/>
          </p:cNvSpPr>
          <p:nvPr/>
        </p:nvSpPr>
        <p:spPr bwMode="auto">
          <a:xfrm>
            <a:off x="7348220" y="2329391"/>
            <a:ext cx="40037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TESTING IF INSERTION OF DATA IS VALID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F6082DC8-B6AA-84AF-A27C-398FC1F354A8}"/>
              </a:ext>
            </a:extLst>
          </p:cNvPr>
          <p:cNvSpPr>
            <a:spLocks noChangeArrowheads="1"/>
          </p:cNvSpPr>
          <p:nvPr/>
        </p:nvSpPr>
        <p:spPr bwMode="auto">
          <a:xfrm>
            <a:off x="1351280" y="2374454"/>
            <a:ext cx="292849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TESTING FOR REGISTRATION</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6">
            <a:extLst>
              <a:ext uri="{FF2B5EF4-FFF2-40B4-BE49-F238E27FC236}">
                <a16:creationId xmlns:a16="http://schemas.microsoft.com/office/drawing/2014/main" id="{692F4B3E-C516-C660-D72A-EEDC8D469A82}"/>
              </a:ext>
            </a:extLst>
          </p:cNvPr>
          <p:cNvSpPr>
            <a:spLocks noChangeArrowheads="1"/>
          </p:cNvSpPr>
          <p:nvPr/>
        </p:nvSpPr>
        <p:spPr bwMode="auto">
          <a:xfrm>
            <a:off x="6682740" y="707038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457200" algn="just"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Table 7.3.5 Testing for registration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2E0C483B-D95C-6A9B-7DD7-B48DDE75789D}"/>
              </a:ext>
            </a:extLst>
          </p:cNvPr>
          <p:cNvPicPr>
            <a:picLocks noChangeAspect="1"/>
          </p:cNvPicPr>
          <p:nvPr/>
        </p:nvPicPr>
        <p:blipFill>
          <a:blip r:embed="rId2"/>
          <a:stretch>
            <a:fillRect/>
          </a:stretch>
        </p:blipFill>
        <p:spPr>
          <a:xfrm>
            <a:off x="1351280" y="2684409"/>
            <a:ext cx="5859417" cy="3429297"/>
          </a:xfrm>
          <a:prstGeom prst="rect">
            <a:avLst/>
          </a:prstGeom>
        </p:spPr>
      </p:pic>
      <p:pic>
        <p:nvPicPr>
          <p:cNvPr id="12" name="Picture 11">
            <a:extLst>
              <a:ext uri="{FF2B5EF4-FFF2-40B4-BE49-F238E27FC236}">
                <a16:creationId xmlns:a16="http://schemas.microsoft.com/office/drawing/2014/main" id="{306F34AD-AC3F-6B73-5A61-D9E5B188CFFC}"/>
              </a:ext>
            </a:extLst>
          </p:cNvPr>
          <p:cNvPicPr>
            <a:picLocks noChangeAspect="1"/>
          </p:cNvPicPr>
          <p:nvPr/>
        </p:nvPicPr>
        <p:blipFill>
          <a:blip r:embed="rId3"/>
          <a:stretch>
            <a:fillRect/>
          </a:stretch>
        </p:blipFill>
        <p:spPr>
          <a:xfrm>
            <a:off x="7348220" y="2684409"/>
            <a:ext cx="4660900" cy="3429297"/>
          </a:xfrm>
          <a:prstGeom prst="rect">
            <a:avLst/>
          </a:prstGeom>
        </p:spPr>
      </p:pic>
    </p:spTree>
    <p:extLst>
      <p:ext uri="{BB962C8B-B14F-4D97-AF65-F5344CB8AC3E}">
        <p14:creationId xmlns:p14="http://schemas.microsoft.com/office/powerpoint/2010/main" val="3960904139"/>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57B8F18-5A9E-5113-7CE5-653E911F0D86}"/>
              </a:ext>
            </a:extLst>
          </p:cNvPr>
          <p:cNvCxnSpPr/>
          <p:nvPr/>
        </p:nvCxnSpPr>
        <p:spPr>
          <a:xfrm>
            <a:off x="1399540" y="672253"/>
            <a:ext cx="9855200" cy="0"/>
          </a:xfrm>
          <a:prstGeom prst="line">
            <a:avLst/>
          </a:prstGeom>
        </p:spPr>
        <p:style>
          <a:lnRef idx="1">
            <a:schemeClr val="dk1"/>
          </a:lnRef>
          <a:fillRef idx="0">
            <a:schemeClr val="dk1"/>
          </a:fillRef>
          <a:effectRef idx="0">
            <a:schemeClr val="dk1"/>
          </a:effectRef>
          <a:fontRef idx="minor">
            <a:schemeClr val="tx1"/>
          </a:fontRef>
        </p:style>
      </p:cxnSp>
      <p:sp>
        <p:nvSpPr>
          <p:cNvPr id="4" name="Title 1">
            <a:extLst>
              <a:ext uri="{FF2B5EF4-FFF2-40B4-BE49-F238E27FC236}">
                <a16:creationId xmlns:a16="http://schemas.microsoft.com/office/drawing/2014/main" id="{55DC752C-79A6-FA27-4018-1C9D64EFBEC5}"/>
              </a:ext>
            </a:extLst>
          </p:cNvPr>
          <p:cNvSpPr txBox="1">
            <a:spLocks/>
          </p:cNvSpPr>
          <p:nvPr/>
        </p:nvSpPr>
        <p:spPr>
          <a:xfrm>
            <a:off x="1297940" y="0"/>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sz="4000" dirty="0"/>
              <a:t>Testing and Implementation</a:t>
            </a:r>
            <a:endParaRPr lang="en-IN" sz="4000" dirty="0"/>
          </a:p>
        </p:txBody>
      </p:sp>
      <p:sp>
        <p:nvSpPr>
          <p:cNvPr id="6" name="TextBox 5">
            <a:extLst>
              <a:ext uri="{FF2B5EF4-FFF2-40B4-BE49-F238E27FC236}">
                <a16:creationId xmlns:a16="http://schemas.microsoft.com/office/drawing/2014/main" id="{BD5B0C5F-EC06-65C0-6FB1-7ED6D7F4A595}"/>
              </a:ext>
            </a:extLst>
          </p:cNvPr>
          <p:cNvSpPr txBox="1"/>
          <p:nvPr/>
        </p:nvSpPr>
        <p:spPr>
          <a:xfrm>
            <a:off x="1348740" y="581005"/>
            <a:ext cx="9956800" cy="793551"/>
          </a:xfrm>
          <a:prstGeom prst="rect">
            <a:avLst/>
          </a:prstGeom>
          <a:noFill/>
        </p:spPr>
        <p:txBody>
          <a:bodyPr wrap="square">
            <a:spAutoFit/>
          </a:bodyPr>
          <a:lstStyle/>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Executing a plan is the process of implementation. It involves an overview, a brief description, and the tasks required to carry out the implementation. During this phase, various test cases are evaluated and integrated into the system.</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044564EC-F79B-5856-930B-40BF18E6E409}"/>
              </a:ext>
            </a:extLst>
          </p:cNvPr>
          <p:cNvSpPr txBox="1"/>
          <p:nvPr/>
        </p:nvSpPr>
        <p:spPr>
          <a:xfrm>
            <a:off x="1480820" y="2022757"/>
            <a:ext cx="4401820" cy="4673523"/>
          </a:xfrm>
          <a:prstGeom prst="rect">
            <a:avLst/>
          </a:prstGeom>
          <a:noFill/>
        </p:spPr>
        <p:txBody>
          <a:bodyPr wrap="square">
            <a:spAutoFit/>
          </a:bodyPr>
          <a:lstStyle/>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Begin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Input: High-resolution CT-Scan images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Preprocess the images: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Apply normalization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Perform noise reduction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Apply contrast enhancement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Standardize image size and resolution</a:t>
            </a:r>
          </a:p>
          <a:p>
            <a:pPr algn="just">
              <a:lnSpc>
                <a:spcPct val="150000"/>
              </a:lnSpc>
              <a:spcAft>
                <a:spcPts val="800"/>
              </a:spcAft>
              <a:buNone/>
            </a:pPr>
            <a:r>
              <a:rPr lang="en-US" sz="1600" kern="100" dirty="0">
                <a:latin typeface="Times New Roman" panose="02020603050405020304" pitchFamily="18" charset="0"/>
                <a:ea typeface="Aptos" panose="020B0004020202020204" pitchFamily="34" charset="0"/>
                <a:cs typeface="Times New Roman" panose="02020603050405020304" pitchFamily="18" charset="0"/>
              </a:rPr>
              <a:t>Extract features:</a:t>
            </a: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latin typeface="Times New Roman" panose="02020603050405020304" pitchFamily="18" charset="0"/>
                <a:ea typeface="Aptos" panose="020B0004020202020204" pitchFamily="34" charset="0"/>
                <a:cs typeface="Times New Roman" panose="02020603050405020304" pitchFamily="18" charset="0"/>
              </a:rPr>
              <a:t>    Identify texture, shape, density, and cancer size</a:t>
            </a:r>
            <a:endParaRPr lang="en-IN" sz="1600" kern="100" dirty="0">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E10275BA-7BD8-65F9-79A3-03C4A8FCD107}"/>
              </a:ext>
            </a:extLst>
          </p:cNvPr>
          <p:cNvSpPr txBox="1"/>
          <p:nvPr/>
        </p:nvSpPr>
        <p:spPr>
          <a:xfrm>
            <a:off x="5875020" y="2546970"/>
            <a:ext cx="5379720" cy="3625095"/>
          </a:xfrm>
          <a:prstGeom prst="rect">
            <a:avLst/>
          </a:prstGeom>
          <a:noFill/>
        </p:spPr>
        <p:txBody>
          <a:bodyPr wrap="square">
            <a:spAutoFit/>
          </a:bodyPr>
          <a:lstStyle/>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Analyze using Convolutional Neural Network (CNN) features: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Classify cancer as benign or malignant based on trained dataset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If cancer is malignant: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Recommend further medical evaluations and treatment</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Else if cancer is benign: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    Suggest routine monitoring and preventive measures</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buNone/>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End</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95D9F430-8B07-B597-BAFD-F4E908CA46F2}"/>
              </a:ext>
            </a:extLst>
          </p:cNvPr>
          <p:cNvSpPr txBox="1"/>
          <p:nvPr/>
        </p:nvSpPr>
        <p:spPr>
          <a:xfrm>
            <a:off x="1348740" y="1465804"/>
            <a:ext cx="6096000" cy="465705"/>
          </a:xfrm>
          <a:prstGeom prst="rect">
            <a:avLst/>
          </a:prstGeom>
          <a:noFill/>
        </p:spPr>
        <p:txBody>
          <a:bodyPr wrap="square">
            <a:spAutoFit/>
          </a:bodyPr>
          <a:lstStyle/>
          <a:p>
            <a:pPr algn="just">
              <a:lnSpc>
                <a:spcPct val="150000"/>
              </a:lnSpc>
              <a:spcAft>
                <a:spcPts val="800"/>
              </a:spcAft>
              <a:buNone/>
            </a:pPr>
            <a:r>
              <a:rPr lang="en-US" b="1" kern="100" dirty="0">
                <a:effectLst/>
                <a:latin typeface="Times New Roman" panose="02020603050405020304" pitchFamily="18" charset="0"/>
                <a:ea typeface="Aptos" panose="020B0004020202020204" pitchFamily="34" charset="0"/>
                <a:cs typeface="Times New Roman" panose="02020603050405020304" pitchFamily="18" charset="0"/>
              </a:rPr>
              <a:t>PSEUDO CODE FOR LUNG CANCER DETECTION</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cxnSp>
        <p:nvCxnSpPr>
          <p:cNvPr id="14" name="Straight Connector 13">
            <a:extLst>
              <a:ext uri="{FF2B5EF4-FFF2-40B4-BE49-F238E27FC236}">
                <a16:creationId xmlns:a16="http://schemas.microsoft.com/office/drawing/2014/main" id="{AAEFCF63-C9D2-1C32-BA49-E6761206FD68}"/>
              </a:ext>
            </a:extLst>
          </p:cNvPr>
          <p:cNvCxnSpPr>
            <a:cxnSpLocks/>
          </p:cNvCxnSpPr>
          <p:nvPr/>
        </p:nvCxnSpPr>
        <p:spPr>
          <a:xfrm>
            <a:off x="5814060" y="1955561"/>
            <a:ext cx="0" cy="421650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649971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D37F6-870E-B571-5E02-66119D60594D}"/>
              </a:ext>
            </a:extLst>
          </p:cNvPr>
          <p:cNvSpPr txBox="1">
            <a:spLocks/>
          </p:cNvSpPr>
          <p:nvPr/>
        </p:nvSpPr>
        <p:spPr>
          <a:xfrm>
            <a:off x="1412240" y="488490"/>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Screenshots</a:t>
            </a:r>
            <a:endParaRPr lang="en-IN" dirty="0"/>
          </a:p>
        </p:txBody>
      </p:sp>
      <p:cxnSp>
        <p:nvCxnSpPr>
          <p:cNvPr id="3" name="Straight Connector 2">
            <a:extLst>
              <a:ext uri="{FF2B5EF4-FFF2-40B4-BE49-F238E27FC236}">
                <a16:creationId xmlns:a16="http://schemas.microsoft.com/office/drawing/2014/main" id="{C00A9F54-1998-2E33-689A-C94EA9D7A306}"/>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500A1D69-871C-89D4-5F9D-EB12EB4E52A7}"/>
              </a:ext>
            </a:extLst>
          </p:cNvPr>
          <p:cNvSpPr txBox="1"/>
          <p:nvPr/>
        </p:nvSpPr>
        <p:spPr>
          <a:xfrm>
            <a:off x="1412240" y="1689945"/>
            <a:ext cx="1988820" cy="369332"/>
          </a:xfrm>
          <a:prstGeom prst="rect">
            <a:avLst/>
          </a:prstGeom>
          <a:noFill/>
        </p:spPr>
        <p:txBody>
          <a:bodyPr wrap="square" rtlCol="0">
            <a:spAutoFit/>
          </a:bodyPr>
          <a:lstStyle/>
          <a:p>
            <a:r>
              <a:rPr lang="en-US" dirty="0"/>
              <a:t>Admin Dashboard</a:t>
            </a:r>
            <a:endParaRPr lang="en-IN" dirty="0"/>
          </a:p>
        </p:txBody>
      </p:sp>
      <p:sp>
        <p:nvSpPr>
          <p:cNvPr id="5" name="TextBox 4">
            <a:extLst>
              <a:ext uri="{FF2B5EF4-FFF2-40B4-BE49-F238E27FC236}">
                <a16:creationId xmlns:a16="http://schemas.microsoft.com/office/drawing/2014/main" id="{9E2D94DA-EB80-8F7B-72E7-C13290714207}"/>
              </a:ext>
            </a:extLst>
          </p:cNvPr>
          <p:cNvSpPr txBox="1"/>
          <p:nvPr/>
        </p:nvSpPr>
        <p:spPr>
          <a:xfrm>
            <a:off x="6659880" y="1676777"/>
            <a:ext cx="1988820" cy="369332"/>
          </a:xfrm>
          <a:prstGeom prst="rect">
            <a:avLst/>
          </a:prstGeom>
          <a:noFill/>
        </p:spPr>
        <p:txBody>
          <a:bodyPr wrap="square" rtlCol="0">
            <a:spAutoFit/>
          </a:bodyPr>
          <a:lstStyle/>
          <a:p>
            <a:r>
              <a:rPr lang="en-US" dirty="0"/>
              <a:t>Doctor Home Page</a:t>
            </a:r>
            <a:endParaRPr lang="en-IN" dirty="0"/>
          </a:p>
        </p:txBody>
      </p:sp>
      <p:pic>
        <p:nvPicPr>
          <p:cNvPr id="6" name="Picture 5" descr="A screenshot of a computer&#10;&#10;AI-generated content may be incorrect.">
            <a:extLst>
              <a:ext uri="{FF2B5EF4-FFF2-40B4-BE49-F238E27FC236}">
                <a16:creationId xmlns:a16="http://schemas.microsoft.com/office/drawing/2014/main" id="{87804A2E-45CE-8D71-6B61-493DDF853A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50340" y="2111391"/>
            <a:ext cx="5064760" cy="3228441"/>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289BF4B9-D3C9-795D-CEBB-5B57CE7289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41160" y="2098223"/>
            <a:ext cx="5336540" cy="3195320"/>
          </a:xfrm>
          <a:prstGeom prst="rect">
            <a:avLst/>
          </a:prstGeom>
        </p:spPr>
      </p:pic>
    </p:spTree>
    <p:extLst>
      <p:ext uri="{BB962C8B-B14F-4D97-AF65-F5344CB8AC3E}">
        <p14:creationId xmlns:p14="http://schemas.microsoft.com/office/powerpoint/2010/main" val="3329047879"/>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B46AB3BB-BFDC-42B3-BF08-9682C92F1789}"/>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sp>
        <p:nvSpPr>
          <p:cNvPr id="4" name="Title 1">
            <a:extLst>
              <a:ext uri="{FF2B5EF4-FFF2-40B4-BE49-F238E27FC236}">
                <a16:creationId xmlns:a16="http://schemas.microsoft.com/office/drawing/2014/main" id="{D7701415-84D2-7556-A8E7-624A85A5CE81}"/>
              </a:ext>
            </a:extLst>
          </p:cNvPr>
          <p:cNvSpPr txBox="1">
            <a:spLocks/>
          </p:cNvSpPr>
          <p:nvPr/>
        </p:nvSpPr>
        <p:spPr>
          <a:xfrm>
            <a:off x="1412240" y="488490"/>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Screenshots</a:t>
            </a:r>
            <a:endParaRPr lang="en-IN" dirty="0"/>
          </a:p>
        </p:txBody>
      </p:sp>
      <p:sp>
        <p:nvSpPr>
          <p:cNvPr id="6" name="TextBox 5">
            <a:extLst>
              <a:ext uri="{FF2B5EF4-FFF2-40B4-BE49-F238E27FC236}">
                <a16:creationId xmlns:a16="http://schemas.microsoft.com/office/drawing/2014/main" id="{955D90FA-D3B5-B92E-D2E8-C2E3108CCB2E}"/>
              </a:ext>
            </a:extLst>
          </p:cNvPr>
          <p:cNvSpPr txBox="1"/>
          <p:nvPr/>
        </p:nvSpPr>
        <p:spPr>
          <a:xfrm>
            <a:off x="1412240" y="1920751"/>
            <a:ext cx="2085340" cy="369332"/>
          </a:xfrm>
          <a:prstGeom prst="rect">
            <a:avLst/>
          </a:prstGeom>
          <a:noFill/>
        </p:spPr>
        <p:txBody>
          <a:bodyPr wrap="square" rtlCol="0">
            <a:spAutoFit/>
          </a:bodyPr>
          <a:lstStyle/>
          <a:p>
            <a:r>
              <a:rPr lang="en-US" dirty="0"/>
              <a:t>Patient Home Page</a:t>
            </a:r>
            <a:endParaRPr lang="en-IN" dirty="0"/>
          </a:p>
        </p:txBody>
      </p:sp>
      <p:sp>
        <p:nvSpPr>
          <p:cNvPr id="7" name="TextBox 6">
            <a:extLst>
              <a:ext uri="{FF2B5EF4-FFF2-40B4-BE49-F238E27FC236}">
                <a16:creationId xmlns:a16="http://schemas.microsoft.com/office/drawing/2014/main" id="{A752DECF-A14F-D715-F964-5A66E787C341}"/>
              </a:ext>
            </a:extLst>
          </p:cNvPr>
          <p:cNvSpPr txBox="1"/>
          <p:nvPr/>
        </p:nvSpPr>
        <p:spPr>
          <a:xfrm>
            <a:off x="6609082" y="1895986"/>
            <a:ext cx="2085340" cy="369332"/>
          </a:xfrm>
          <a:prstGeom prst="rect">
            <a:avLst/>
          </a:prstGeom>
          <a:noFill/>
        </p:spPr>
        <p:txBody>
          <a:bodyPr wrap="square" rtlCol="0">
            <a:spAutoFit/>
          </a:bodyPr>
          <a:lstStyle/>
          <a:p>
            <a:r>
              <a:rPr lang="en-US" dirty="0"/>
              <a:t>ML Prediction Page</a:t>
            </a:r>
            <a:endParaRPr lang="en-IN" dirty="0"/>
          </a:p>
        </p:txBody>
      </p:sp>
      <p:pic>
        <p:nvPicPr>
          <p:cNvPr id="8" name="Picture 7" descr="A screenshot of a computer&#10;&#10;AI-generated content may be incorrect.">
            <a:extLst>
              <a:ext uri="{FF2B5EF4-FFF2-40B4-BE49-F238E27FC236}">
                <a16:creationId xmlns:a16="http://schemas.microsoft.com/office/drawing/2014/main" id="{8F814763-C6CF-3C13-2597-4A3503272D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12240" y="2342197"/>
            <a:ext cx="4968240" cy="3362325"/>
          </a:xfrm>
          <a:prstGeom prst="rect">
            <a:avLst/>
          </a:prstGeom>
        </p:spPr>
      </p:pic>
      <p:pic>
        <p:nvPicPr>
          <p:cNvPr id="9" name="Picture 8" descr="A hand holding a pen&#10;&#10;AI-generated content may be incorrect.">
            <a:extLst>
              <a:ext uri="{FF2B5EF4-FFF2-40B4-BE49-F238E27FC236}">
                <a16:creationId xmlns:a16="http://schemas.microsoft.com/office/drawing/2014/main" id="{178CB848-C807-AE0E-D342-9080313581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7980" y="2317432"/>
            <a:ext cx="5234940" cy="3387090"/>
          </a:xfrm>
          <a:prstGeom prst="rect">
            <a:avLst/>
          </a:prstGeom>
        </p:spPr>
      </p:pic>
    </p:spTree>
    <p:extLst>
      <p:ext uri="{BB962C8B-B14F-4D97-AF65-F5344CB8AC3E}">
        <p14:creationId xmlns:p14="http://schemas.microsoft.com/office/powerpoint/2010/main" val="874189098"/>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544086F-98DE-33D7-5DCA-A2CE00BB17AF}"/>
              </a:ext>
            </a:extLst>
          </p:cNvPr>
          <p:cNvSpPr txBox="1">
            <a:spLocks/>
          </p:cNvSpPr>
          <p:nvPr/>
        </p:nvSpPr>
        <p:spPr>
          <a:xfrm>
            <a:off x="1412240" y="488490"/>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Screenshots</a:t>
            </a:r>
            <a:endParaRPr lang="en-IN" dirty="0"/>
          </a:p>
        </p:txBody>
      </p:sp>
      <p:cxnSp>
        <p:nvCxnSpPr>
          <p:cNvPr id="5" name="Straight Connector 4">
            <a:extLst>
              <a:ext uri="{FF2B5EF4-FFF2-40B4-BE49-F238E27FC236}">
                <a16:creationId xmlns:a16="http://schemas.microsoft.com/office/drawing/2014/main" id="{D1383D87-2B21-D42D-BD77-A43ABF02C223}"/>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14A45191-FEDA-167D-5876-35EE83148CB2}"/>
              </a:ext>
            </a:extLst>
          </p:cNvPr>
          <p:cNvSpPr txBox="1"/>
          <p:nvPr/>
        </p:nvSpPr>
        <p:spPr>
          <a:xfrm>
            <a:off x="1412240" y="1501140"/>
            <a:ext cx="2443480" cy="369332"/>
          </a:xfrm>
          <a:prstGeom prst="rect">
            <a:avLst/>
          </a:prstGeom>
          <a:noFill/>
        </p:spPr>
        <p:txBody>
          <a:bodyPr wrap="square" rtlCol="0">
            <a:spAutoFit/>
          </a:bodyPr>
          <a:lstStyle/>
          <a:p>
            <a:r>
              <a:rPr lang="en-US" dirty="0"/>
              <a:t>Benign Case Prediction</a:t>
            </a:r>
            <a:endParaRPr lang="en-IN" dirty="0"/>
          </a:p>
        </p:txBody>
      </p:sp>
      <p:sp>
        <p:nvSpPr>
          <p:cNvPr id="7" name="TextBox 6">
            <a:extLst>
              <a:ext uri="{FF2B5EF4-FFF2-40B4-BE49-F238E27FC236}">
                <a16:creationId xmlns:a16="http://schemas.microsoft.com/office/drawing/2014/main" id="{7701A7A8-8722-00C5-0331-F770092D76B6}"/>
              </a:ext>
            </a:extLst>
          </p:cNvPr>
          <p:cNvSpPr txBox="1"/>
          <p:nvPr/>
        </p:nvSpPr>
        <p:spPr>
          <a:xfrm>
            <a:off x="4726305" y="1501140"/>
            <a:ext cx="2739390" cy="369332"/>
          </a:xfrm>
          <a:prstGeom prst="rect">
            <a:avLst/>
          </a:prstGeom>
          <a:noFill/>
        </p:spPr>
        <p:txBody>
          <a:bodyPr wrap="square" rtlCol="0">
            <a:spAutoFit/>
          </a:bodyPr>
          <a:lstStyle/>
          <a:p>
            <a:r>
              <a:rPr lang="en-US" dirty="0"/>
              <a:t>Malignant Case Prediction</a:t>
            </a:r>
            <a:endParaRPr lang="en-IN" dirty="0"/>
          </a:p>
        </p:txBody>
      </p:sp>
      <p:sp>
        <p:nvSpPr>
          <p:cNvPr id="8" name="TextBox 7">
            <a:extLst>
              <a:ext uri="{FF2B5EF4-FFF2-40B4-BE49-F238E27FC236}">
                <a16:creationId xmlns:a16="http://schemas.microsoft.com/office/drawing/2014/main" id="{FCEBE0F3-75BE-5278-9D85-4D684100A413}"/>
              </a:ext>
            </a:extLst>
          </p:cNvPr>
          <p:cNvSpPr txBox="1"/>
          <p:nvPr/>
        </p:nvSpPr>
        <p:spPr>
          <a:xfrm>
            <a:off x="8336280" y="1501140"/>
            <a:ext cx="2514600" cy="369332"/>
          </a:xfrm>
          <a:prstGeom prst="rect">
            <a:avLst/>
          </a:prstGeom>
          <a:noFill/>
        </p:spPr>
        <p:txBody>
          <a:bodyPr wrap="square" rtlCol="0">
            <a:spAutoFit/>
          </a:bodyPr>
          <a:lstStyle/>
          <a:p>
            <a:r>
              <a:rPr lang="en-US" dirty="0"/>
              <a:t>Normal Case Prediction</a:t>
            </a:r>
            <a:endParaRPr lang="en-IN" dirty="0"/>
          </a:p>
        </p:txBody>
      </p:sp>
      <p:pic>
        <p:nvPicPr>
          <p:cNvPr id="9" name="Picture 8" descr="A screenshot of a computer screen&#10;&#10;AI-generated content may be incorrect.">
            <a:extLst>
              <a:ext uri="{FF2B5EF4-FFF2-40B4-BE49-F238E27FC236}">
                <a16:creationId xmlns:a16="http://schemas.microsoft.com/office/drawing/2014/main" id="{AC4F5BA4-C526-98E5-DD19-3B9149C5A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0340" y="2055178"/>
            <a:ext cx="2992120" cy="3751262"/>
          </a:xfrm>
          <a:prstGeom prst="rect">
            <a:avLst/>
          </a:prstGeom>
        </p:spPr>
      </p:pic>
      <p:pic>
        <p:nvPicPr>
          <p:cNvPr id="10" name="Picture 9" descr="A screenshot of a medical report&#10;&#10;AI-generated content may be incorrect.">
            <a:extLst>
              <a:ext uri="{FF2B5EF4-FFF2-40B4-BE49-F238E27FC236}">
                <a16:creationId xmlns:a16="http://schemas.microsoft.com/office/drawing/2014/main" id="{4B305F46-476B-6EE2-8910-B5D5BFFCBC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5840" y="2029264"/>
            <a:ext cx="3290000" cy="3777173"/>
          </a:xfrm>
          <a:prstGeom prst="rect">
            <a:avLst/>
          </a:prstGeom>
        </p:spPr>
      </p:pic>
      <p:pic>
        <p:nvPicPr>
          <p:cNvPr id="11" name="Picture 10" descr="A screenshot of a computer screen&#10;&#10;AI-generated content may be incorrect.">
            <a:extLst>
              <a:ext uri="{FF2B5EF4-FFF2-40B4-BE49-F238E27FC236}">
                <a16:creationId xmlns:a16="http://schemas.microsoft.com/office/drawing/2014/main" id="{45DDDEC7-1ADE-54AC-672D-64012C6210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92116" y="2029263"/>
            <a:ext cx="3343824" cy="3777163"/>
          </a:xfrm>
          <a:prstGeom prst="rect">
            <a:avLst/>
          </a:prstGeom>
        </p:spPr>
      </p:pic>
    </p:spTree>
    <p:extLst>
      <p:ext uri="{BB962C8B-B14F-4D97-AF65-F5344CB8AC3E}">
        <p14:creationId xmlns:p14="http://schemas.microsoft.com/office/powerpoint/2010/main" val="59002499"/>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98E65E-61DC-E763-B3B4-8A0196B40419}"/>
              </a:ext>
            </a:extLst>
          </p:cNvPr>
          <p:cNvSpPr txBox="1">
            <a:spLocks/>
          </p:cNvSpPr>
          <p:nvPr/>
        </p:nvSpPr>
        <p:spPr>
          <a:xfrm>
            <a:off x="1412240" y="488490"/>
            <a:ext cx="10058400" cy="771730"/>
          </a:xfrm>
          <a:prstGeom prst="rect">
            <a:avLst/>
          </a:prstGeom>
        </p:spPr>
        <p:txBody>
          <a:bodyPr/>
          <a:lst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a:lstStyle>
          <a:p>
            <a:r>
              <a:rPr lang="en-US" dirty="0"/>
              <a:t>Conclusion</a:t>
            </a:r>
            <a:endParaRPr lang="en-IN" dirty="0"/>
          </a:p>
        </p:txBody>
      </p:sp>
      <p:cxnSp>
        <p:nvCxnSpPr>
          <p:cNvPr id="5" name="Straight Connector 4">
            <a:extLst>
              <a:ext uri="{FF2B5EF4-FFF2-40B4-BE49-F238E27FC236}">
                <a16:creationId xmlns:a16="http://schemas.microsoft.com/office/drawing/2014/main" id="{CA0097E1-60DA-BA2E-0012-79AFB2240CDB}"/>
              </a:ext>
            </a:extLst>
          </p:cNvPr>
          <p:cNvCxnSpPr/>
          <p:nvPr/>
        </p:nvCxnSpPr>
        <p:spPr>
          <a:xfrm>
            <a:off x="1450340" y="1312333"/>
            <a:ext cx="9855200" cy="0"/>
          </a:xfrm>
          <a:prstGeom prst="line">
            <a:avLst/>
          </a:prstGeom>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B328B4E5-76B8-4C84-069A-9554F20E29FB}"/>
              </a:ext>
            </a:extLst>
          </p:cNvPr>
          <p:cNvSpPr txBox="1"/>
          <p:nvPr/>
        </p:nvSpPr>
        <p:spPr>
          <a:xfrm>
            <a:off x="1412240" y="1445283"/>
            <a:ext cx="9893300" cy="3953390"/>
          </a:xfrm>
          <a:prstGeom prst="rect">
            <a:avLst/>
          </a:prstGeom>
          <a:noFill/>
        </p:spPr>
        <p:txBody>
          <a:bodyPr wrap="square">
            <a:spAutoFit/>
          </a:bodyPr>
          <a:lstStyle/>
          <a:p>
            <a:pPr marL="323850" indent="-285750" algn="just">
              <a:lnSpc>
                <a:spcPct val="150000"/>
              </a:lnSpc>
              <a:spcAft>
                <a:spcPts val="800"/>
              </a:spcAft>
              <a:buFont typeface="Wingdings" panose="05000000000000000000" pitchFamily="2" charset="2"/>
              <a:buChar char="Ø"/>
            </a:pPr>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The Lung Cancer Detection project utilizing Convolutional Neural Networks (CNNs) marks significant progress in medical diagnostics by applying advanced deep learning techniques to classify CT scan images into benign, malignant, or normal categories. The CNN-based model addresses the shortcomings of traditional manual analysis and rule-based systems, offering a scalable and highly accurate approach for early detection of lung cancer.</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23850" indent="-285750" algn="just">
              <a:lnSpc>
                <a:spcPct val="150000"/>
              </a:lnSpc>
              <a:spcAft>
                <a:spcPts val="800"/>
              </a:spcAft>
              <a:buFont typeface="Wingdings" panose="05000000000000000000" pitchFamily="2" charset="2"/>
              <a:buChar char="Ø"/>
            </a:pPr>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With a user-friendly interface and consistent performance across various datasets, the system improves the overall diagnostic process for doctors, patients, and healthcare staff. Its design integrates automated preprocessing, real-time predictions, and structured result generation, making it practical and dependable in clinical use.</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marL="323850" indent="-285750" algn="just">
              <a:lnSpc>
                <a:spcPct val="150000"/>
              </a:lnSpc>
              <a:spcAft>
                <a:spcPts val="800"/>
              </a:spcAft>
              <a:buFont typeface="Wingdings" panose="05000000000000000000" pitchFamily="2" charset="2"/>
              <a:buChar char="Ø"/>
            </a:pPr>
            <a:r>
              <a:rPr lang="en-IN" sz="1600" kern="100" dirty="0">
                <a:effectLst/>
                <a:latin typeface="Times New Roman" panose="02020603050405020304" pitchFamily="18" charset="0"/>
                <a:ea typeface="Aptos" panose="020B0004020202020204" pitchFamily="34" charset="0"/>
                <a:cs typeface="Times New Roman" panose="02020603050405020304" pitchFamily="18" charset="0"/>
              </a:rPr>
              <a:t>Beyond aiding in early detection, this solution highlights the potential of AI-driven healthcare tools. It demonstrates how technology can play a vital role in enabling faster decisions and more efficient patient care, contributing meaningfully to the fight against lung cancer.</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54466199"/>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A04B7-304D-127A-2065-43A2CDB3D8B1}"/>
              </a:ext>
            </a:extLst>
          </p:cNvPr>
          <p:cNvSpPr>
            <a:spLocks noGrp="1"/>
          </p:cNvSpPr>
          <p:nvPr>
            <p:ph type="ctrTitle"/>
          </p:nvPr>
        </p:nvSpPr>
        <p:spPr/>
        <p:txBody>
          <a:bodyPr/>
          <a:lstStyle/>
          <a:p>
            <a:r>
              <a:rPr lang="en-US" dirty="0"/>
              <a:t>Thank You</a:t>
            </a:r>
            <a:endParaRPr lang="en-IN" dirty="0"/>
          </a:p>
        </p:txBody>
      </p:sp>
      <p:pic>
        <p:nvPicPr>
          <p:cNvPr id="4" name="Picture 3">
            <a:extLst>
              <a:ext uri="{FF2B5EF4-FFF2-40B4-BE49-F238E27FC236}">
                <a16:creationId xmlns:a16="http://schemas.microsoft.com/office/drawing/2014/main" id="{8D3356E2-C362-FB0D-89EA-D742C79D6730}"/>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7556686" y="1"/>
            <a:ext cx="4635315" cy="6857999"/>
          </a:xfrm>
          <a:prstGeom prst="rect">
            <a:avLst/>
          </a:prstGeom>
        </p:spPr>
      </p:pic>
    </p:spTree>
    <p:extLst>
      <p:ext uri="{BB962C8B-B14F-4D97-AF65-F5344CB8AC3E}">
        <p14:creationId xmlns:p14="http://schemas.microsoft.com/office/powerpoint/2010/main" val="1855001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ppt/theme/themeOverride2.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38A3B04-B0F3-4C12-A722-52B5CF6D97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{13D7AAA6-F0B4-411A-AB51-DA9ED0DCF078}tf33845126_win32</Template>
  <TotalTime>240</TotalTime>
  <Words>1003</Words>
  <Application>Microsoft Office PowerPoint</Application>
  <PresentationFormat>Widescreen</PresentationFormat>
  <Paragraphs>106</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Arial</vt:lpstr>
      <vt:lpstr>Bookman Old Style</vt:lpstr>
      <vt:lpstr>Calibri</vt:lpstr>
      <vt:lpstr>Franklin Gothic Book</vt:lpstr>
      <vt:lpstr>Times New Roman</vt:lpstr>
      <vt:lpstr>Wingdings</vt:lpstr>
      <vt:lpstr>1_RetrospectVTI</vt:lpstr>
      <vt:lpstr>Lung Cancer Detection System Using CNN</vt:lpstr>
      <vt:lpstr>Company Profile </vt:lpstr>
      <vt:lpstr>Introduction to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pawan kumar</dc:creator>
  <cp:lastModifiedBy>pawan kumar</cp:lastModifiedBy>
  <cp:revision>2</cp:revision>
  <dcterms:created xsi:type="dcterms:W3CDTF">2025-07-20T09:14:58Z</dcterms:created>
  <dcterms:modified xsi:type="dcterms:W3CDTF">2025-08-10T14:59:52Z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