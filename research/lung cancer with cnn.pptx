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5" r:id="rId5"/>
    <p:sldId id="326" r:id="rId6"/>
    <p:sldId id="261" r:id="rId7"/>
    <p:sldId id="258" r:id="rId8"/>
    <p:sldId id="268" r:id="rId9"/>
    <p:sldId id="265" r:id="rId10"/>
    <p:sldId id="264" r:id="rId11"/>
    <p:sldId id="266" r:id="rId12"/>
    <p:sldId id="341" r:id="rId13"/>
    <p:sldId id="34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240" autoAdjust="0"/>
  </p:normalViewPr>
  <p:slideViewPr>
    <p:cSldViewPr snapToGrid="0">
      <p:cViewPr varScale="1">
        <p:scale>
          <a:sx n="90" d="100"/>
          <a:sy n="90" d="100"/>
        </p:scale>
        <p:origin x="355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7/26/2025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7/26/2025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009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3AC26BE-51AF-BA98-92A0-420225E96147}"/>
              </a:ext>
            </a:extLst>
          </p:cNvPr>
          <p:cNvSpPr txBox="1">
            <a:spLocks/>
          </p:cNvSpPr>
          <p:nvPr/>
        </p:nvSpPr>
        <p:spPr>
          <a:xfrm>
            <a:off x="609600" y="545432"/>
            <a:ext cx="10972800" cy="7299157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r>
              <a:rPr lang="en-IN" sz="4000" dirty="0"/>
              <a:t>Lung Cancer Detection System Using CNN and Machine Learning Algorithms</a:t>
            </a:r>
          </a:p>
          <a:p>
            <a:br>
              <a:rPr lang="en-IN" sz="4000" dirty="0"/>
            </a:br>
            <a:r>
              <a:rPr lang="en-IN" sz="2500" dirty="0"/>
              <a:t>Presented by:</a:t>
            </a:r>
            <a:br>
              <a:rPr lang="en-IN" sz="2500" dirty="0"/>
            </a:br>
            <a:r>
              <a:rPr lang="en-IN" sz="2500" dirty="0"/>
              <a:t>Pawan Kumar K.P</a:t>
            </a:r>
            <a:br>
              <a:rPr lang="en-IN" sz="2500" dirty="0"/>
            </a:br>
            <a:br>
              <a:rPr lang="en-IN" sz="2500" dirty="0"/>
            </a:br>
            <a:r>
              <a:rPr lang="en-IN" sz="2500" dirty="0"/>
              <a:t>St Joseph Engineering College,</a:t>
            </a:r>
            <a:br>
              <a:rPr lang="en-IN" sz="2500" dirty="0"/>
            </a:br>
            <a:r>
              <a:rPr lang="en-IN" sz="2500" dirty="0"/>
              <a:t> Mangalore</a:t>
            </a:r>
            <a:br>
              <a:rPr lang="en-IN" sz="2500" dirty="0"/>
            </a:br>
            <a:br>
              <a:rPr lang="en-IN" sz="2500" dirty="0"/>
            </a:br>
            <a:r>
              <a:rPr lang="en-IN" sz="2500" dirty="0"/>
              <a:t>Guide:</a:t>
            </a:r>
            <a:br>
              <a:rPr lang="en-IN" sz="2500" dirty="0"/>
            </a:br>
            <a:r>
              <a:rPr lang="en-IN" sz="2500" dirty="0"/>
              <a:t>Ms. Sumangala N</a:t>
            </a:r>
            <a:br>
              <a:rPr lang="en-IN" sz="2500" dirty="0"/>
            </a:br>
            <a:r>
              <a:rPr lang="en-IN" sz="2500" dirty="0"/>
              <a:t>Date:26-07-2025</a:t>
            </a:r>
            <a:br>
              <a:rPr lang="en-IN" sz="8000" dirty="0"/>
            </a:b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2">
            <a:extLst>
              <a:ext uri="{FF2B5EF4-FFF2-40B4-BE49-F238E27FC236}">
                <a16:creationId xmlns:a16="http://schemas.microsoft.com/office/drawing/2014/main" id="{5199EFAA-7C3A-BD8D-DD5A-857A1F09E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733" y="782638"/>
            <a:ext cx="6002867" cy="1143000"/>
          </a:xfrm>
        </p:spPr>
        <p:txBody>
          <a:bodyPr/>
          <a:lstStyle/>
          <a:p>
            <a:pPr algn="ctr"/>
            <a:r>
              <a:rPr lang="en-IN" sz="4400" dirty="0"/>
              <a:t>Introduction</a:t>
            </a:r>
            <a:endParaRPr lang="en-US" sz="4400" dirty="0"/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026A13F9-CE81-1085-A64E-99DA7BA14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709160"/>
          </a:xfrm>
        </p:spPr>
        <p:txBody>
          <a:bodyPr>
            <a:normAutofit fontScale="92500" lnSpcReduction="10000"/>
          </a:bodyPr>
          <a:lstStyle/>
          <a:p>
            <a:pPr marL="137160" lvl="0" indent="0">
              <a:buNone/>
            </a:pPr>
            <a:r>
              <a:rPr lang="en-US" sz="2600" b="1" dirty="0"/>
              <a:t>Context:</a:t>
            </a:r>
          </a:p>
          <a:p>
            <a:pPr marL="137160" lvl="0" indent="0">
              <a:buNone/>
            </a:pPr>
            <a:r>
              <a:rPr lang="en-US" dirty="0"/>
              <a:t>Lung cancer is the leading cause of cancer-related deaths worldwide, often diagnosed late due to asymptomatic early stages.</a:t>
            </a:r>
          </a:p>
          <a:p>
            <a:pPr marL="137160" lvl="0" indent="0">
              <a:buNone/>
            </a:pPr>
            <a:endParaRPr lang="en-US" sz="2600" b="1" dirty="0"/>
          </a:p>
          <a:p>
            <a:pPr marL="137160" lvl="0" indent="0">
              <a:buNone/>
            </a:pPr>
            <a:r>
              <a:rPr lang="en-US" sz="2600" b="1" dirty="0"/>
              <a:t>Problem Statement:</a:t>
            </a:r>
          </a:p>
          <a:p>
            <a:pPr marL="137160" lvl="0" indent="0">
              <a:buNone/>
            </a:pPr>
            <a:r>
              <a:rPr lang="en-US" dirty="0"/>
              <a:t>Traditional diagnostic methods are invasive, expensive, and reliant on specialist radiologists. There is a lack of accessibility in rural areas.</a:t>
            </a:r>
          </a:p>
          <a:p>
            <a:pPr marL="137160" lvl="0" indent="0">
              <a:buNone/>
            </a:pPr>
            <a:endParaRPr lang="en-US" dirty="0"/>
          </a:p>
          <a:p>
            <a:pPr marL="137160" lvl="0" indent="0">
              <a:buNone/>
            </a:pPr>
            <a:r>
              <a:rPr lang="en-US" sz="2600" b="1" dirty="0"/>
              <a:t>Literature Review:</a:t>
            </a:r>
          </a:p>
          <a:p>
            <a:pPr marL="137160" lvl="0" indent="0">
              <a:buNone/>
            </a:pPr>
            <a:r>
              <a:rPr lang="en-US" dirty="0"/>
              <a:t>CNN-based systems have shown expert-level performance in medical image classification. VGG16, in particular, provides strong performance for CT scan analysis.</a:t>
            </a:r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33633B2-20B7-360D-A4D1-D1FE99F3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5799" y="867305"/>
            <a:ext cx="5030503" cy="1143000"/>
          </a:xfrm>
        </p:spPr>
        <p:txBody>
          <a:bodyPr/>
          <a:lstStyle/>
          <a:p>
            <a:pPr algn="ctr"/>
            <a:r>
              <a:rPr lang="en-IN" sz="4400" dirty="0"/>
              <a:t>Objectives</a:t>
            </a:r>
            <a:endParaRPr lang="en-US" sz="4400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6E01A414-44AE-7A2B-019B-9205E4F3D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10844463" cy="4525963"/>
          </a:xfrm>
        </p:spPr>
        <p:txBody>
          <a:bodyPr>
            <a:normAutofit/>
          </a:bodyPr>
          <a:lstStyle/>
          <a:p>
            <a:pPr marL="48006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To design a hybrid AI system using CNN-VGG16 for early lung cancer detection through CT images.</a:t>
            </a:r>
          </a:p>
          <a:p>
            <a:pPr marL="48006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marL="48006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To build a multi-user web platform for administrators, doctors, and patients.</a:t>
            </a:r>
          </a:p>
          <a:p>
            <a:pPr marL="137160" indent="0" algn="just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dirty="0"/>
          </a:p>
          <a:p>
            <a:pPr marL="48006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Research Questions:</a:t>
            </a:r>
          </a:p>
          <a:p>
            <a:pPr marL="480060" indent="-342900"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Can CNNs reliably detect lung cancer types from CT images?</a:t>
            </a:r>
          </a:p>
          <a:p>
            <a:pPr marL="480060" indent="-342900"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Is the system feasible and fast enough for clinical settings?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689655" y="706797"/>
            <a:ext cx="10812690" cy="5444406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CBAA166-E07D-E59D-DB32-566B2B3F613F}"/>
              </a:ext>
            </a:extLst>
          </p:cNvPr>
          <p:cNvSpPr txBox="1">
            <a:spLocks/>
          </p:cNvSpPr>
          <p:nvPr/>
        </p:nvSpPr>
        <p:spPr>
          <a:xfrm>
            <a:off x="701976" y="545571"/>
            <a:ext cx="10972800" cy="1143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r>
              <a:rPr lang="en-IN" sz="4400" dirty="0"/>
              <a:t>Methodology / System Design</a:t>
            </a:r>
            <a:endParaRPr lang="en-US" sz="4400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12FA144-416F-5D49-A6C6-D3A413750768}"/>
              </a:ext>
            </a:extLst>
          </p:cNvPr>
          <p:cNvSpPr txBox="1">
            <a:spLocks/>
          </p:cNvSpPr>
          <p:nvPr/>
        </p:nvSpPr>
        <p:spPr>
          <a:xfrm>
            <a:off x="854956" y="1354668"/>
            <a:ext cx="1043957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b="1" dirty="0"/>
              <a:t>Frameworks/Tools:</a:t>
            </a:r>
            <a:endParaRPr lang="en-IN" dirty="0"/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HTML5, CSS3, JS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Flask (Python), MySQL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b="1" dirty="0"/>
              <a:t>Model:</a:t>
            </a:r>
            <a:r>
              <a:rPr lang="en-IN" dirty="0"/>
              <a:t> CNN with VGG16 + custom dense layers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b="1" dirty="0"/>
              <a:t>Dataset:</a:t>
            </a:r>
            <a:r>
              <a:rPr lang="en-IN" dirty="0"/>
              <a:t> IQ-OTH/NCCD (9600 images: Normal, Benign, Malignant)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b="1" dirty="0"/>
              <a:t>Preprocessing:</a:t>
            </a:r>
            <a:endParaRPr lang="en-IN" dirty="0"/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Resizing (224x224), normalization, contrast enhancement, augmentation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b="1" dirty="0"/>
              <a:t>Architecture:</a:t>
            </a:r>
            <a:endParaRPr lang="en-IN" dirty="0"/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VGG16 base + Dense layers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Dropout + SoftMax for classification</a:t>
            </a:r>
          </a:p>
          <a:p>
            <a:pPr marL="137160" indent="0">
              <a:buFont typeface="Courier New" panose="02070309020205020404" pitchFamily="49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33023CA9-6AC4-7D23-81F3-010575969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442" y="982133"/>
            <a:ext cx="10844463" cy="5492179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endParaRPr lang="en-US" b="1" dirty="0"/>
          </a:p>
          <a:p>
            <a:pPr marL="137160" indent="0">
              <a:buNone/>
            </a:pPr>
            <a:r>
              <a:rPr lang="en-US" sz="2400" b="1" dirty="0"/>
              <a:t>Overall Accuracy:</a:t>
            </a:r>
            <a:r>
              <a:rPr lang="en-US" sz="2400" dirty="0"/>
              <a:t> 95.25%</a:t>
            </a:r>
            <a:br>
              <a:rPr lang="en-US" dirty="0"/>
            </a:br>
            <a:endParaRPr lang="en-US" dirty="0"/>
          </a:p>
          <a:p>
            <a:r>
              <a:rPr lang="en-IN" dirty="0"/>
              <a:t>Key Metric Formulas</a:t>
            </a:r>
          </a:p>
          <a:p>
            <a:r>
              <a:rPr lang="en-IN" dirty="0"/>
              <a:t>Accuracy = (TP + TN) / (TP + TN + FP + FN)</a:t>
            </a:r>
          </a:p>
          <a:p>
            <a:r>
              <a:rPr lang="en-IN" dirty="0"/>
              <a:t>Sensitivity (Recall) = TP / (TP + FN)</a:t>
            </a:r>
          </a:p>
          <a:p>
            <a:r>
              <a:rPr lang="en-IN" dirty="0"/>
              <a:t>Specificity = TN / (TN + FP)</a:t>
            </a:r>
          </a:p>
          <a:p>
            <a:r>
              <a:rPr lang="en-IN" dirty="0"/>
              <a:t>F1-Score = 2 × (Precision × Recall) / (Precision + Recall)</a:t>
            </a:r>
            <a:br>
              <a:rPr lang="en-IN" dirty="0"/>
            </a:br>
            <a:r>
              <a:rPr lang="en-IN" dirty="0"/>
              <a:t>                                </a:t>
            </a:r>
            <a:br>
              <a:rPr lang="en-IN" dirty="0"/>
            </a:br>
            <a:r>
              <a:rPr lang="en-IN" dirty="0"/>
              <a:t>Where:</a:t>
            </a:r>
          </a:p>
          <a:p>
            <a:r>
              <a:rPr lang="en-IN" dirty="0"/>
              <a:t>TP = True Positive</a:t>
            </a:r>
          </a:p>
          <a:p>
            <a:r>
              <a:rPr lang="en-IN" dirty="0"/>
              <a:t>TN = True Negative</a:t>
            </a:r>
          </a:p>
          <a:p>
            <a:r>
              <a:rPr lang="en-IN" dirty="0"/>
              <a:t>FP = False Positive</a:t>
            </a:r>
          </a:p>
          <a:p>
            <a:r>
              <a:rPr lang="en-IN" dirty="0"/>
              <a:t>FN = False Negative</a:t>
            </a:r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FCACB3F-744F-34DC-6785-7A926D66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7267" y="495861"/>
            <a:ext cx="6502400" cy="1143000"/>
          </a:xfrm>
        </p:spPr>
        <p:txBody>
          <a:bodyPr/>
          <a:lstStyle/>
          <a:p>
            <a:r>
              <a:rPr lang="en-US" dirty="0"/>
              <a:t>Results / findings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916C0C8-6775-C309-AD5C-B983E315D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400811"/>
              </p:ext>
            </p:extLst>
          </p:nvPr>
        </p:nvGraphicFramePr>
        <p:xfrm>
          <a:off x="5647266" y="1847839"/>
          <a:ext cx="5935133" cy="44174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6895">
                  <a:extLst>
                    <a:ext uri="{9D8B030D-6E8A-4147-A177-3AD203B41FA5}">
                      <a16:colId xmlns:a16="http://schemas.microsoft.com/office/drawing/2014/main" val="1248707654"/>
                    </a:ext>
                  </a:extLst>
                </a:gridCol>
                <a:gridCol w="1186895">
                  <a:extLst>
                    <a:ext uri="{9D8B030D-6E8A-4147-A177-3AD203B41FA5}">
                      <a16:colId xmlns:a16="http://schemas.microsoft.com/office/drawing/2014/main" val="1041448217"/>
                    </a:ext>
                  </a:extLst>
                </a:gridCol>
                <a:gridCol w="1186895">
                  <a:extLst>
                    <a:ext uri="{9D8B030D-6E8A-4147-A177-3AD203B41FA5}">
                      <a16:colId xmlns:a16="http://schemas.microsoft.com/office/drawing/2014/main" val="1934161460"/>
                    </a:ext>
                  </a:extLst>
                </a:gridCol>
                <a:gridCol w="1186895">
                  <a:extLst>
                    <a:ext uri="{9D8B030D-6E8A-4147-A177-3AD203B41FA5}">
                      <a16:colId xmlns:a16="http://schemas.microsoft.com/office/drawing/2014/main" val="4272256609"/>
                    </a:ext>
                  </a:extLst>
                </a:gridCol>
                <a:gridCol w="1187553">
                  <a:extLst>
                    <a:ext uri="{9D8B030D-6E8A-4147-A177-3AD203B41FA5}">
                      <a16:colId xmlns:a16="http://schemas.microsoft.com/office/drawing/2014/main" val="3276561196"/>
                    </a:ext>
                  </a:extLst>
                </a:gridCol>
              </a:tblGrid>
              <a:tr h="9647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tx1"/>
                          </a:solidFill>
                          <a:effectLst/>
                        </a:rPr>
                        <a:t>Class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Accuracy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Sensitivity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Specificity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F1-Score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0170671"/>
                  </a:ext>
                </a:extLst>
              </a:tr>
              <a:tr h="11002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Normal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96.2%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95.8%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96.5%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96%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9679486"/>
                  </a:ext>
                </a:extLst>
              </a:tr>
              <a:tr h="12052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tx1"/>
                          </a:solidFill>
                          <a:effectLst/>
                        </a:rPr>
                        <a:t>Benign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94.1%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93.7%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94.4%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94%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5252134"/>
                  </a:ext>
                </a:extLst>
              </a:tr>
              <a:tr h="1147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Malignant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95.4%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96.2%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94.8%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95%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135817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173D2EB-5F99-87C8-50B5-CA5D0F9DD372}"/>
              </a:ext>
            </a:extLst>
          </p:cNvPr>
          <p:cNvSpPr txBox="1"/>
          <p:nvPr/>
        </p:nvSpPr>
        <p:spPr>
          <a:xfrm>
            <a:off x="5341261" y="1346822"/>
            <a:ext cx="597644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   Class-wise Metrics: 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D8A00AD-FCC2-6CBB-9074-AFCB3B0BB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10844463" cy="4525963"/>
          </a:xfrm>
        </p:spPr>
        <p:txBody>
          <a:bodyPr/>
          <a:lstStyle/>
          <a:p>
            <a:pPr marL="137160" indent="0">
              <a:buNone/>
            </a:pPr>
            <a:endParaRPr lang="en-IN" b="1" dirty="0"/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049D7BE-1646-D7B4-C7B4-1F36376B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933" y="1028701"/>
            <a:ext cx="8161867" cy="1143000"/>
          </a:xfrm>
        </p:spPr>
        <p:txBody>
          <a:bodyPr/>
          <a:lstStyle/>
          <a:p>
            <a:r>
              <a:rPr lang="en-IN" dirty="0"/>
              <a:t>Screenshot – CT Scan Examples</a:t>
            </a:r>
            <a:endParaRPr lang="en-US" dirty="0"/>
          </a:p>
        </p:txBody>
      </p:sp>
      <p:pic>
        <p:nvPicPr>
          <p:cNvPr id="13" name="Picture 12" descr="An x-ray of a chest&#10;&#10;AI-generated content may be incorrect.">
            <a:extLst>
              <a:ext uri="{FF2B5EF4-FFF2-40B4-BE49-F238E27FC236}">
                <a16:creationId xmlns:a16="http://schemas.microsoft.com/office/drawing/2014/main" id="{0D0F90D8-47CE-880B-55A8-4C4426F77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12" y="2186940"/>
            <a:ext cx="2666365" cy="2484120"/>
          </a:xfrm>
          <a:prstGeom prst="rect">
            <a:avLst/>
          </a:prstGeom>
        </p:spPr>
      </p:pic>
      <p:pic>
        <p:nvPicPr>
          <p:cNvPr id="14" name="Picture 13" descr="A close-up of an x-ray of a lung&#10;&#10;AI-generated content may be incorrect.">
            <a:extLst>
              <a:ext uri="{FF2B5EF4-FFF2-40B4-BE49-F238E27FC236}">
                <a16:creationId xmlns:a16="http://schemas.microsoft.com/office/drawing/2014/main" id="{6F7095AA-3259-6D86-CF0B-DC9AADF51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267" y="2255520"/>
            <a:ext cx="2651125" cy="2415540"/>
          </a:xfrm>
          <a:prstGeom prst="rect">
            <a:avLst/>
          </a:prstGeom>
        </p:spPr>
      </p:pic>
      <p:pic>
        <p:nvPicPr>
          <p:cNvPr id="15" name="Picture 14" descr="A close-up of a ct scan&#10;&#10;AI-generated content may be incorrect.">
            <a:extLst>
              <a:ext uri="{FF2B5EF4-FFF2-40B4-BE49-F238E27FC236}">
                <a16:creationId xmlns:a16="http://schemas.microsoft.com/office/drawing/2014/main" id="{03088634-EB34-31F1-308D-A157FC66BF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793" y="2221230"/>
            <a:ext cx="2665095" cy="24155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14853C-539D-268E-9091-7977B4DBDA23}"/>
              </a:ext>
            </a:extLst>
          </p:cNvPr>
          <p:cNvSpPr txBox="1"/>
          <p:nvPr/>
        </p:nvSpPr>
        <p:spPr>
          <a:xfrm>
            <a:off x="8681392" y="4942510"/>
            <a:ext cx="2901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CT-Scan for Benign Case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7E4515-3B89-F2B3-45E7-13601801F30D}"/>
              </a:ext>
            </a:extLst>
          </p:cNvPr>
          <p:cNvSpPr txBox="1"/>
          <p:nvPr/>
        </p:nvSpPr>
        <p:spPr>
          <a:xfrm>
            <a:off x="4950296" y="4942510"/>
            <a:ext cx="2901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CT-Scan for Benign Case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FA6050-1830-37BA-98D4-64AA8E6954A3}"/>
              </a:ext>
            </a:extLst>
          </p:cNvPr>
          <p:cNvSpPr txBox="1"/>
          <p:nvPr/>
        </p:nvSpPr>
        <p:spPr>
          <a:xfrm>
            <a:off x="1177044" y="4963145"/>
            <a:ext cx="2901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CT-Scan for Benign Case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32F2876-5DF2-C2AE-F2C8-1C877463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6" y="452438"/>
            <a:ext cx="11870267" cy="1143000"/>
          </a:xfrm>
        </p:spPr>
        <p:txBody>
          <a:bodyPr/>
          <a:lstStyle/>
          <a:p>
            <a:pPr algn="ctr"/>
            <a:r>
              <a:rPr lang="en-IN" sz="3600" dirty="0"/>
              <a:t>Screenshots </a:t>
            </a:r>
            <a:br>
              <a:rPr lang="en-IN" sz="3600" dirty="0"/>
            </a:br>
            <a:r>
              <a:rPr lang="en-IN" sz="3600" dirty="0"/>
              <a:t>CT-Scan Input and Accuracy Output</a:t>
            </a:r>
            <a:endParaRPr lang="en-US" sz="3600" dirty="0"/>
          </a:p>
        </p:txBody>
      </p:sp>
      <p:pic>
        <p:nvPicPr>
          <p:cNvPr id="12" name="Content Placeholder 3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9FD4B460-84CD-4DB2-0C85-595C1BC1F5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682" y="1754823"/>
            <a:ext cx="3590636" cy="41220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0BF0B3-94A6-941F-ACA1-986EF40F937D}"/>
              </a:ext>
            </a:extLst>
          </p:cNvPr>
          <p:cNvSpPr txBox="1"/>
          <p:nvPr/>
        </p:nvSpPr>
        <p:spPr>
          <a:xfrm>
            <a:off x="4550552" y="6147212"/>
            <a:ext cx="334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Malignant Case Prediction Page</a:t>
            </a:r>
            <a:endParaRPr lang="en-IN" dirty="0"/>
          </a:p>
        </p:txBody>
      </p:sp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A54AE84-C266-6687-1C78-ACCEA9E23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90" y="1762077"/>
            <a:ext cx="3590636" cy="4122018"/>
          </a:xfrm>
          <a:prstGeom prst="rect">
            <a:avLst/>
          </a:prstGeom>
        </p:spPr>
      </p:pic>
      <p:pic>
        <p:nvPicPr>
          <p:cNvPr id="15" name="Picture 1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54A3109-8106-C12A-F32A-4990C1B9DF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544" y="1762077"/>
            <a:ext cx="3642694" cy="41147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099719-C118-7E42-6218-63A05113F000}"/>
              </a:ext>
            </a:extLst>
          </p:cNvPr>
          <p:cNvSpPr txBox="1"/>
          <p:nvPr/>
        </p:nvSpPr>
        <p:spPr>
          <a:xfrm>
            <a:off x="721804" y="6117777"/>
            <a:ext cx="2901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Benign Case Prediction Page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D602C1-FE3F-C7FD-4FDF-212220CAFBA3}"/>
              </a:ext>
            </a:extLst>
          </p:cNvPr>
          <p:cNvSpPr txBox="1"/>
          <p:nvPr/>
        </p:nvSpPr>
        <p:spPr>
          <a:xfrm>
            <a:off x="8718885" y="6147212"/>
            <a:ext cx="2999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 Case Prediction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348A0DFB-0E13-34F6-70C4-0BAC2239E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634066"/>
            <a:ext cx="10844463" cy="5130799"/>
          </a:xfrm>
        </p:spPr>
        <p:txBody>
          <a:bodyPr numCol="2"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Summary: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Achieved 95.25% accuracy in lung cancer </a:t>
            </a:r>
          </a:p>
          <a:p>
            <a:pPr marL="0" indent="0" algn="just">
              <a:buNone/>
            </a:pPr>
            <a:r>
              <a:rPr lang="en-US" sz="2000" dirty="0"/>
              <a:t>       detection using VGG16.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Reduced diagnostic time and cost using a </a:t>
            </a:r>
          </a:p>
          <a:p>
            <a:pPr marL="0" indent="0" algn="just">
              <a:buNone/>
            </a:pPr>
            <a:r>
              <a:rPr lang="en-US" sz="2000" dirty="0"/>
              <a:t>       web-based platform.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Contributions: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Multi-role AI diagnostic system.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Strong performance with real-time prediction.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Limitations: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Works poorly with low-quality or corrupted images.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Desktop-only access; </a:t>
            </a:r>
          </a:p>
          <a:p>
            <a:pPr marL="0" indent="0" algn="just">
              <a:buNone/>
            </a:pPr>
            <a:r>
              <a:rPr lang="en-US" sz="2000" dirty="0"/>
              <a:t>        no mobile compatibility.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Future Work: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Expand dataset with rare pathologies.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Deploy on cloud or mobile platforms.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Add clinical validation with hospitals.</a:t>
            </a:r>
            <a:endParaRPr lang="en-IN" sz="2000" dirty="0"/>
          </a:p>
          <a:p>
            <a:pPr algn="just"/>
            <a:endParaRPr lang="en-IN" sz="4800" dirty="0"/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19ACD5-BF1E-BC36-251C-6BC69975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321734"/>
            <a:ext cx="7264400" cy="1143000"/>
          </a:xfrm>
        </p:spPr>
        <p:txBody>
          <a:bodyPr/>
          <a:lstStyle/>
          <a:p>
            <a:pPr algn="ctr"/>
            <a:r>
              <a:rPr lang="en-IN" sz="4400" dirty="0"/>
              <a:t>Conclusion &amp; Future Enhancement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2125-A847-36CD-C9D1-392976476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7FD23810-9715-6CD5-2A60-DCC702556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768" y="1166018"/>
            <a:ext cx="10844463" cy="5294049"/>
          </a:xfrm>
        </p:spPr>
        <p:txBody>
          <a:bodyPr>
            <a:normAutofit/>
          </a:bodyPr>
          <a:lstStyle/>
          <a:p>
            <a:pPr marL="480060" indent="-342900">
              <a:buFont typeface="+mj-lt"/>
              <a:buAutoNum type="arabicPeriod"/>
            </a:pPr>
            <a:r>
              <a:rPr lang="en-US" dirty="0"/>
              <a:t>R. L. Siegel et al., CA Cancer J Clin, 2023 (Statistics)</a:t>
            </a:r>
          </a:p>
          <a:p>
            <a:pPr marL="480060" indent="-342900">
              <a:buFont typeface="+mj-lt"/>
              <a:buAutoNum type="arabicPeriod"/>
            </a:pPr>
            <a:endParaRPr lang="en-US" dirty="0"/>
          </a:p>
          <a:p>
            <a:pPr marL="480060" indent="-342900">
              <a:buFont typeface="+mj-lt"/>
              <a:buAutoNum type="arabicPeriod"/>
            </a:pPr>
            <a:r>
              <a:rPr lang="en-US" dirty="0"/>
              <a:t>T. Kadir &amp; F. Gleeson, Transitional Lung Cancer Research, 2018 (Imaging)</a:t>
            </a:r>
          </a:p>
          <a:p>
            <a:pPr marL="480060" indent="-342900">
              <a:buFont typeface="+mj-lt"/>
              <a:buAutoNum type="arabicPeriod"/>
            </a:pPr>
            <a:endParaRPr lang="en-US" dirty="0"/>
          </a:p>
          <a:p>
            <a:pPr marL="480060" indent="-342900">
              <a:buFont typeface="+mj-lt"/>
              <a:buAutoNum type="arabicPeriod"/>
            </a:pPr>
            <a:r>
              <a:rPr lang="en-US" dirty="0"/>
              <a:t>S. K. Lakshmana Prabu et al., Future Gen Comp Sys, 2019 (Model)</a:t>
            </a:r>
          </a:p>
          <a:p>
            <a:pPr marL="480060" indent="-342900">
              <a:buFont typeface="+mj-lt"/>
              <a:buAutoNum type="arabicPeriod"/>
            </a:pPr>
            <a:endParaRPr lang="en-US" dirty="0"/>
          </a:p>
          <a:p>
            <a:pPr marL="480060" indent="-342900">
              <a:buFont typeface="+mj-lt"/>
              <a:buAutoNum type="arabicPeriod"/>
            </a:pPr>
            <a:r>
              <a:rPr lang="en-US" dirty="0"/>
              <a:t>D. Ardila et al., Nature Medicine, 2022 (3D-CNN)</a:t>
            </a:r>
          </a:p>
          <a:p>
            <a:pPr marL="480060" indent="-342900">
              <a:buFont typeface="+mj-lt"/>
              <a:buAutoNum type="arabicPeriod"/>
            </a:pPr>
            <a:endParaRPr lang="en-US" dirty="0"/>
          </a:p>
          <a:p>
            <a:pPr marL="480060" indent="-342900">
              <a:buFont typeface="+mj-lt"/>
              <a:buAutoNum type="arabicPeriod"/>
            </a:pPr>
            <a:r>
              <a:rPr lang="en-US" dirty="0"/>
              <a:t>W. </a:t>
            </a:r>
            <a:r>
              <a:rPr lang="en-US" dirty="0" err="1"/>
              <a:t>Alakwaa</a:t>
            </a:r>
            <a:r>
              <a:rPr lang="en-US" dirty="0"/>
              <a:t> et al., Lung Cancer, 2018 (Detection)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8E50401-B966-6693-FCAD-22D51F99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15" y="457201"/>
            <a:ext cx="4864770" cy="1143000"/>
          </a:xfrm>
        </p:spPr>
        <p:txBody>
          <a:bodyPr/>
          <a:lstStyle/>
          <a:p>
            <a:pPr algn="ctr"/>
            <a:r>
              <a:rPr lang="en-IN" sz="44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74050002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Pawan </a:t>
            </a:r>
            <a:r>
              <a:rPr lang="en-US" dirty="0" err="1"/>
              <a:t>KUmar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{0BC71F43-6259-489F-81DF-6DD4DD5A0A68}tf67061901_win32</Template>
  <TotalTime>54</TotalTime>
  <Words>571</Words>
  <Application>Microsoft Office PowerPoint</Application>
  <PresentationFormat>Widescreen</PresentationFormat>
  <Paragraphs>104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Courier New</vt:lpstr>
      <vt:lpstr>Daytona Condensed Light</vt:lpstr>
      <vt:lpstr>Posterama</vt:lpstr>
      <vt:lpstr>Wingdings</vt:lpstr>
      <vt:lpstr>Custom</vt:lpstr>
      <vt:lpstr>PowerPoint Presentation</vt:lpstr>
      <vt:lpstr>Introduction</vt:lpstr>
      <vt:lpstr>Objectives</vt:lpstr>
      <vt:lpstr>PowerPoint Presentation</vt:lpstr>
      <vt:lpstr>Results / findings</vt:lpstr>
      <vt:lpstr>Screenshot – CT Scan Examples</vt:lpstr>
      <vt:lpstr>Screenshots  CT-Scan Input and Accuracy Output</vt:lpstr>
      <vt:lpstr>Conclusion &amp; Future Enhancement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pawan kumar</dc:creator>
  <cp:lastModifiedBy>pawan kumar</cp:lastModifiedBy>
  <cp:revision>5</cp:revision>
  <dcterms:created xsi:type="dcterms:W3CDTF">2025-07-22T17:38:11Z</dcterms:created>
  <dcterms:modified xsi:type="dcterms:W3CDTF">2025-07-26T05:03:40Z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